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6080760" cy="6858000"/>
          </a:xfrm>
          <a:prstGeom prst="rect">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645920"/>
            <a:ext cx="5394960" cy="1463040"/>
          </a:xfrm>
          <a:prstGeom prst="rect">
            <a:avLst/>
          </a:prstGeom>
          <a:noFill/>
        </p:spPr>
        <p:txBody>
          <a:bodyPr wrap="square">
            <a:spAutoFit/>
          </a:bodyPr>
          <a:lstStyle/>
          <a:p>
            <a:pPr algn="l"/>
            <a:r>
              <a:rPr sz="3800" b="1" i="0">
                <a:solidFill>
                  <a:srgbClr val="FFFFFF"/>
                </a:solidFill>
                <a:latin typeface="Calibri"/>
              </a:rPr>
              <a:t>CHITTAGONG
HYDROLOGICAL
RESILIENCE</a:t>
            </a:r>
          </a:p>
        </p:txBody>
      </p:sp>
      <p:sp>
        <p:nvSpPr>
          <p:cNvPr id="4" name="TextBox 3"/>
          <p:cNvSpPr txBox="1"/>
          <p:nvPr/>
        </p:nvSpPr>
        <p:spPr>
          <a:xfrm>
            <a:off x="320040" y="3291840"/>
            <a:ext cx="5394960" cy="1005840"/>
          </a:xfrm>
          <a:prstGeom prst="rect">
            <a:avLst/>
          </a:prstGeom>
          <a:noFill/>
        </p:spPr>
        <p:txBody>
          <a:bodyPr wrap="square">
            <a:spAutoFit/>
          </a:bodyPr>
          <a:lstStyle/>
          <a:p>
            <a:pPr algn="l"/>
            <a:r>
              <a:rPr sz="1600" b="0" i="1">
                <a:solidFill>
                  <a:srgbClr val="00D4FF"/>
                </a:solidFill>
                <a:latin typeface="Calibri"/>
              </a:rPr>
              <a:t>A Multi-Zone IoT Network for Flash Flood
&amp; Tidal Surge Mitigation</a:t>
            </a:r>
          </a:p>
        </p:txBody>
      </p:sp>
      <p:sp>
        <p:nvSpPr>
          <p:cNvPr id="5" name="TextBox 4"/>
          <p:cNvSpPr txBox="1"/>
          <p:nvPr/>
        </p:nvSpPr>
        <p:spPr>
          <a:xfrm>
            <a:off x="320040" y="4754880"/>
            <a:ext cx="5394960" cy="1737360"/>
          </a:xfrm>
          <a:prstGeom prst="rect">
            <a:avLst/>
          </a:prstGeom>
          <a:noFill/>
        </p:spPr>
        <p:txBody>
          <a:bodyPr wrap="square">
            <a:spAutoFit/>
          </a:bodyPr>
          <a:lstStyle/>
          <a:p>
            <a:r>
              <a:rPr sz="900" b="0">
                <a:solidFill>
                  <a:srgbClr val="FFFFFF"/>
                </a:solidFill>
                <a:latin typeface="Calibri"/>
              </a:rPr>
              <a:t>Presented by:</a:t>
            </a:r>
          </a:p>
          <a:p/>
          <a:p>
            <a:r>
              <a:rPr sz="900" b="0">
                <a:solidFill>
                  <a:srgbClr val="FFFFFF"/>
                </a:solidFill>
                <a:latin typeface="Calibri"/>
              </a:rPr>
              <a:t>Abu Md. Selim (2103910202114)</a:t>
            </a:r>
          </a:p>
          <a:p/>
          <a:p>
            <a:r>
              <a:rPr sz="900" b="0">
                <a:solidFill>
                  <a:srgbClr val="FFFFFF"/>
                </a:solidFill>
                <a:latin typeface="Calibri"/>
              </a:rPr>
              <a:t>Arifur Rahman (0222320005101088)</a:t>
            </a:r>
          </a:p>
          <a:p/>
          <a:p>
            <a:r>
              <a:rPr sz="900" b="0">
                <a:solidFill>
                  <a:srgbClr val="FFFFFF"/>
                </a:solidFill>
                <a:latin typeface="Calibri"/>
              </a:rPr>
              <a:t>Sadab Abdullah (0222220005101143)</a:t>
            </a:r>
          </a:p>
          <a:p/>
          <a:p>
            <a:r>
              <a:rPr sz="1100" b="1">
                <a:solidFill>
                  <a:srgbClr val="FFFFFF"/>
                </a:solidFill>
                <a:latin typeface="Calibri"/>
              </a:rPr>
              <a:t>Team HydroNet Trio</a:t>
            </a:r>
          </a:p>
        </p:txBody>
      </p:sp>
      <p:sp>
        <p:nvSpPr>
          <p:cNvPr id="6" name="Rectangle 5"/>
          <p:cNvSpPr/>
          <p:nvPr/>
        </p:nvSpPr>
        <p:spPr>
          <a:xfrm>
            <a:off x="320040" y="3108960"/>
            <a:ext cx="3200400" cy="38100"/>
          </a:xfrm>
          <a:prstGeom prst="rect">
            <a:avLst/>
          </a:prstGeom>
          <a:solidFill>
            <a:srgbClr val="00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080760" y="0"/>
            <a:ext cx="610819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205472" y="1143000"/>
            <a:ext cx="3566160" cy="3566160"/>
          </a:xfrm>
          <a:prstGeom prst="ellipse">
            <a:avLst/>
          </a:prstGeom>
          <a:solidFill>
            <a:srgbClr val="1A2332"/>
          </a:solidFill>
          <a:ln w="50800">
            <a:solidFill>
              <a:srgbClr val="00D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88352" y="2148840"/>
            <a:ext cx="3200400" cy="1554480"/>
          </a:xfrm>
          <a:prstGeom prst="rect">
            <a:avLst/>
          </a:prstGeom>
          <a:noFill/>
        </p:spPr>
        <p:txBody>
          <a:bodyPr wrap="square">
            <a:spAutoFit/>
          </a:bodyPr>
          <a:lstStyle/>
          <a:p>
            <a:pPr algn="ctr"/>
            <a:r>
              <a:rPr sz="1600" b="1" i="0">
                <a:solidFill>
                  <a:srgbClr val="00D4FF"/>
                </a:solidFill>
                <a:latin typeface="Calibri"/>
              </a:rPr>
              <a:t>HydroNet
IoT Resilience
2024</a:t>
            </a:r>
          </a:p>
        </p:txBody>
      </p:sp>
      <p:sp>
        <p:nvSpPr>
          <p:cNvPr id="10" name="TextBox 9"/>
          <p:cNvSpPr txBox="1"/>
          <p:nvPr/>
        </p:nvSpPr>
        <p:spPr>
          <a:xfrm>
            <a:off x="6217920" y="5943600"/>
            <a:ext cx="5760720" cy="685800"/>
          </a:xfrm>
          <a:prstGeom prst="rect">
            <a:avLst/>
          </a:prstGeom>
          <a:noFill/>
        </p:spPr>
        <p:txBody>
          <a:bodyPr wrap="square">
            <a:spAutoFit/>
          </a:bodyPr>
          <a:lstStyle/>
          <a:p>
            <a:pPr algn="ctr"/>
            <a:r>
              <a:rPr sz="1000" b="0" i="0">
                <a:solidFill>
                  <a:srgbClr val="00D4FF"/>
                </a:solidFill>
                <a:latin typeface="Calibri"/>
              </a:rPr>
              <a:t>Premier University, Chittagong</a:t>
            </a:r>
          </a:p>
        </p:txBody>
      </p:sp>
      <p:sp>
        <p:nvSpPr>
          <p:cNvPr id="11" name="TextBox 10"/>
          <p:cNvSpPr txBox="1"/>
          <p:nvPr/>
        </p:nvSpPr>
        <p:spPr>
          <a:xfrm>
            <a:off x="6217920" y="6263640"/>
            <a:ext cx="5760720" cy="457200"/>
          </a:xfrm>
          <a:prstGeom prst="rect">
            <a:avLst/>
          </a:prstGeom>
          <a:noFill/>
        </p:spPr>
        <p:txBody>
          <a:bodyPr wrap="square">
            <a:spAutoFit/>
          </a:bodyPr>
          <a:lstStyle/>
          <a:p>
            <a:pPr algn="ctr"/>
            <a:r>
              <a:rPr sz="900" b="0" i="0">
                <a:solidFill>
                  <a:srgbClr val="E8EAED"/>
                </a:solidFill>
                <a:latin typeface="Calibri"/>
              </a:rPr>
              <a:t>6th Semester Network Architecture Project</a:t>
            </a:r>
          </a:p>
        </p:txBody>
      </p:sp>
      <p:sp>
        <p:nvSpPr>
          <p:cNvPr id="12" name="Rectangle 11"/>
          <p:cNvSpPr/>
          <p:nvPr/>
        </p:nvSpPr>
        <p:spPr>
          <a:xfrm>
            <a:off x="11640312" y="91440"/>
            <a:ext cx="365760" cy="365760"/>
          </a:xfrm>
          <a:prstGeom prst="rect">
            <a:avLst/>
          </a:prstGeom>
          <a:solidFill>
            <a:srgbClr val="2ECC71"/>
          </a:solidFill>
          <a:ln w="6350">
            <a:solidFill>
              <a:srgbClr val="1A23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E8EAED"/>
        </a:solidFill>
        <a:effectLst/>
      </p:bgPr>
    </p:bg>
    <p:spTree>
      <p:nvGrpSpPr>
        <p:cNvPr id="1" name=""/>
        <p:cNvGrpSpPr/>
        <p:nvPr/>
      </p:nvGrpSpPr>
      <p:grpSpPr/>
      <p:sp>
        <p:nvSpPr>
          <p:cNvPr id="2" name="Rectangle 1"/>
          <p:cNvSpPr/>
          <p:nvPr/>
        </p:nvSpPr>
        <p:spPr>
          <a:xfrm>
            <a:off x="11960352" y="0"/>
            <a:ext cx="228600" cy="6858000"/>
          </a:xfrm>
          <a:prstGeom prst="rect">
            <a:avLst/>
          </a:prstGeom>
          <a:solidFill>
            <a:srgbClr val="00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228600"/>
            <a:ext cx="10515600" cy="685800"/>
          </a:xfrm>
          <a:prstGeom prst="rect">
            <a:avLst/>
          </a:prstGeom>
          <a:noFill/>
        </p:spPr>
        <p:txBody>
          <a:bodyPr wrap="square">
            <a:spAutoFit/>
          </a:bodyPr>
          <a:lstStyle/>
          <a:p>
            <a:pPr algn="l"/>
            <a:r>
              <a:rPr sz="3200" b="1" i="0">
                <a:solidFill>
                  <a:srgbClr val="1A2332"/>
                </a:solidFill>
                <a:latin typeface="Calibri"/>
              </a:rPr>
              <a:t>Introduction: Smart Hydrological Monitoring</a:t>
            </a:r>
          </a:p>
        </p:txBody>
      </p:sp>
      <p:sp>
        <p:nvSpPr>
          <p:cNvPr id="4" name="Rectangle 3"/>
          <p:cNvSpPr/>
          <p:nvPr/>
        </p:nvSpPr>
        <p:spPr>
          <a:xfrm>
            <a:off x="365760" y="960120"/>
            <a:ext cx="3200400" cy="25400"/>
          </a:xfrm>
          <a:prstGeom prst="rect">
            <a:avLst/>
          </a:prstGeom>
          <a:solidFill>
            <a:srgbClr val="00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143000"/>
            <a:ext cx="10972800" cy="320040"/>
          </a:xfrm>
          <a:prstGeom prst="rect">
            <a:avLst/>
          </a:prstGeom>
          <a:noFill/>
        </p:spPr>
        <p:txBody>
          <a:bodyPr wrap="square">
            <a:spAutoFit/>
          </a:bodyPr>
          <a:lstStyle/>
          <a:p>
            <a:pPr algn="l"/>
            <a:r>
              <a:rPr sz="1300" b="1" i="0">
                <a:solidFill>
                  <a:srgbClr val="00D4FF"/>
                </a:solidFill>
                <a:latin typeface="Calibri"/>
              </a:rPr>
              <a:t>Network Foundation</a:t>
            </a:r>
          </a:p>
        </p:txBody>
      </p:sp>
      <p:sp>
        <p:nvSpPr>
          <p:cNvPr id="6" name="TextBox 5"/>
          <p:cNvSpPr txBox="1"/>
          <p:nvPr/>
        </p:nvSpPr>
        <p:spPr>
          <a:xfrm>
            <a:off x="365760" y="1490472"/>
            <a:ext cx="10972800" cy="914400"/>
          </a:xfrm>
          <a:prstGeom prst="rect">
            <a:avLst/>
          </a:prstGeom>
          <a:noFill/>
        </p:spPr>
        <p:txBody>
          <a:bodyPr wrap="square">
            <a:spAutoFit/>
          </a:bodyPr>
          <a:lstStyle/>
          <a:p>
            <a:pPr algn="l"/>
            <a:r>
              <a:rPr sz="1100" b="0" i="0">
                <a:solidFill>
                  <a:srgbClr val="0F1419"/>
                </a:solidFill>
                <a:latin typeface="Calibri"/>
              </a:rPr>
              <a:t>The Chittagong Hydrological Resilience Network is a sophisticated IoT-enabled monitoring system designed and simulated in Cisco Packet Tracer 8.2.2. It integrates advanced networking technologies including VLANs, dynamic routing (OSPF), Network Address Translation (NAT), and Access Control Lists (ACL) to create a robust infrastructure for real-time environmental monitoring.</a:t>
            </a:r>
          </a:p>
        </p:txBody>
      </p:sp>
      <p:sp>
        <p:nvSpPr>
          <p:cNvPr id="7" name="TextBox 6"/>
          <p:cNvSpPr txBox="1"/>
          <p:nvPr/>
        </p:nvSpPr>
        <p:spPr>
          <a:xfrm>
            <a:off x="365760" y="2450592"/>
            <a:ext cx="10972800" cy="320040"/>
          </a:xfrm>
          <a:prstGeom prst="rect">
            <a:avLst/>
          </a:prstGeom>
          <a:noFill/>
        </p:spPr>
        <p:txBody>
          <a:bodyPr wrap="square">
            <a:spAutoFit/>
          </a:bodyPr>
          <a:lstStyle/>
          <a:p>
            <a:pPr algn="l"/>
            <a:r>
              <a:rPr sz="1300" b="1" i="0">
                <a:solidFill>
                  <a:srgbClr val="00D4FF"/>
                </a:solidFill>
                <a:latin typeface="Calibri"/>
              </a:rPr>
              <a:t>Real-Time Monitoring Capabilities</a:t>
            </a:r>
          </a:p>
        </p:txBody>
      </p:sp>
      <p:sp>
        <p:nvSpPr>
          <p:cNvPr id="8" name="TextBox 7"/>
          <p:cNvSpPr txBox="1"/>
          <p:nvPr/>
        </p:nvSpPr>
        <p:spPr>
          <a:xfrm>
            <a:off x="365760" y="2798064"/>
            <a:ext cx="10972800" cy="914400"/>
          </a:xfrm>
          <a:prstGeom prst="rect">
            <a:avLst/>
          </a:prstGeom>
          <a:noFill/>
        </p:spPr>
        <p:txBody>
          <a:bodyPr wrap="square">
            <a:spAutoFit/>
          </a:bodyPr>
          <a:lstStyle/>
          <a:p>
            <a:pPr algn="l"/>
            <a:r>
              <a:rPr sz="1100" b="0" i="0">
                <a:solidFill>
                  <a:srgbClr val="0F1419"/>
                </a:solidFill>
                <a:latin typeface="Calibri"/>
              </a:rPr>
              <a:t>Distributed across four strategic zones in Chittagong (Coastal Port Area, Riverine Lowlands, Hilly Upstream, and Urban Lowland), the network deploys 20+ IoT sensors monitoring water levels, rainfall patterns, tidal surges, temperature, humidity, and surveillance. All data converges at a centralized monitoring office with DHCP, DNS, Web, and Email servers for critical decision-making.</a:t>
            </a:r>
          </a:p>
        </p:txBody>
      </p:sp>
      <p:sp>
        <p:nvSpPr>
          <p:cNvPr id="9" name="TextBox 8"/>
          <p:cNvSpPr txBox="1"/>
          <p:nvPr/>
        </p:nvSpPr>
        <p:spPr>
          <a:xfrm>
            <a:off x="365760" y="3758184"/>
            <a:ext cx="10972800" cy="320040"/>
          </a:xfrm>
          <a:prstGeom prst="rect">
            <a:avLst/>
          </a:prstGeom>
          <a:noFill/>
        </p:spPr>
        <p:txBody>
          <a:bodyPr wrap="square">
            <a:spAutoFit/>
          </a:bodyPr>
          <a:lstStyle/>
          <a:p>
            <a:pPr algn="l"/>
            <a:r>
              <a:rPr sz="1300" b="1" i="0">
                <a:solidFill>
                  <a:srgbClr val="00D4FF"/>
                </a:solidFill>
                <a:latin typeface="Calibri"/>
              </a:rPr>
              <a:t>Hierarchical Network Design</a:t>
            </a:r>
          </a:p>
        </p:txBody>
      </p:sp>
      <p:sp>
        <p:nvSpPr>
          <p:cNvPr id="10" name="TextBox 9"/>
          <p:cNvSpPr txBox="1"/>
          <p:nvPr/>
        </p:nvSpPr>
        <p:spPr>
          <a:xfrm>
            <a:off x="365760" y="4105656"/>
            <a:ext cx="10972800" cy="914400"/>
          </a:xfrm>
          <a:prstGeom prst="rect">
            <a:avLst/>
          </a:prstGeom>
          <a:noFill/>
        </p:spPr>
        <p:txBody>
          <a:bodyPr wrap="square">
            <a:spAutoFit/>
          </a:bodyPr>
          <a:lstStyle/>
          <a:p>
            <a:pPr algn="l"/>
            <a:r>
              <a:rPr sz="1100" b="0" i="0">
                <a:solidFill>
                  <a:srgbClr val="0F1419"/>
                </a:solidFill>
                <a:latin typeface="Calibri"/>
              </a:rPr>
              <a:t>The network follows the industry-standard three-tier architecture: Core layer (Cisco 3945 routers), Distribution layer (Cisco 2901 routers), and Access layer (Catalyst 2960-X switches). This hierarchical design ensures scalability, fault tolerance, and optimized traffic flow across all zones.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137160"/>
          </a:xfrm>
          <a:prstGeom prst="rect">
            <a:avLst/>
          </a:prstGeom>
          <a:solidFill>
            <a:srgbClr val="00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228600"/>
            <a:ext cx="7772400" cy="685800"/>
          </a:xfrm>
          <a:prstGeom prst="rect">
            <a:avLst/>
          </a:prstGeom>
          <a:noFill/>
        </p:spPr>
        <p:txBody>
          <a:bodyPr wrap="square">
            <a:spAutoFit/>
          </a:bodyPr>
          <a:lstStyle/>
          <a:p>
            <a:pPr algn="l"/>
            <a:r>
              <a:rPr sz="3000" b="1" i="0">
                <a:solidFill>
                  <a:srgbClr val="1A2332"/>
                </a:solidFill>
                <a:latin typeface="Calibri"/>
              </a:rPr>
              <a:t>The Motivation: Learning from 2023</a:t>
            </a:r>
          </a:p>
        </p:txBody>
      </p:sp>
      <p:sp>
        <p:nvSpPr>
          <p:cNvPr id="4" name="Rectangle 3"/>
          <p:cNvSpPr/>
          <p:nvPr/>
        </p:nvSpPr>
        <p:spPr>
          <a:xfrm>
            <a:off x="365760" y="914400"/>
            <a:ext cx="3200400" cy="38100"/>
          </a:xfrm>
          <a:prstGeom prst="rect">
            <a:avLst/>
          </a:prstGeom>
          <a:solidFill>
            <a:srgbClr val="FF6B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097280"/>
            <a:ext cx="7315200" cy="1005840"/>
          </a:xfrm>
          <a:prstGeom prst="rect">
            <a:avLst/>
          </a:prstGeom>
          <a:noFill/>
        </p:spPr>
        <p:txBody>
          <a:bodyPr wrap="square">
            <a:spAutoFit/>
          </a:bodyPr>
          <a:lstStyle/>
          <a:p>
            <a:pPr algn="l"/>
            <a:r>
              <a:rPr sz="1100" b="0" i="0">
                <a:solidFill>
                  <a:srgbClr val="FF6B35"/>
                </a:solidFill>
                <a:latin typeface="Calibri"/>
              </a:rPr>
              <a:t>In September 2023, Chattogram Division experienced catastrophic flooding that affected more than 1 million people, causing 51+ confirmed deaths and displacing hundreds of thousands from their homes. This tragedy exposed critical gaps in disaster warning and response mechanisms.</a:t>
            </a:r>
          </a:p>
        </p:txBody>
      </p:sp>
      <p:sp>
        <p:nvSpPr>
          <p:cNvPr id="6" name="TextBox 5"/>
          <p:cNvSpPr txBox="1"/>
          <p:nvPr/>
        </p:nvSpPr>
        <p:spPr>
          <a:xfrm>
            <a:off x="365760" y="2176272"/>
            <a:ext cx="7315200" cy="1005840"/>
          </a:xfrm>
          <a:prstGeom prst="rect">
            <a:avLst/>
          </a:prstGeom>
          <a:noFill/>
        </p:spPr>
        <p:txBody>
          <a:bodyPr wrap="square">
            <a:spAutoFit/>
          </a:bodyPr>
          <a:lstStyle/>
          <a:p>
            <a:pPr algn="l"/>
            <a:r>
              <a:rPr sz="1100" b="0" i="0">
                <a:solidFill>
                  <a:srgbClr val="0F1419"/>
                </a:solidFill>
                <a:latin typeface="Calibri"/>
              </a:rPr>
              <a:t>Manual surveillance and reactive response systems proved insufficient. Emergency authorities lacked real-time data on water level changes, rainfall intensity, and tidal surge patterns—information that could have triggered earlier evacuations and saved lives.</a:t>
            </a:r>
          </a:p>
        </p:txBody>
      </p:sp>
      <p:sp>
        <p:nvSpPr>
          <p:cNvPr id="7" name="TextBox 6"/>
          <p:cNvSpPr txBox="1"/>
          <p:nvPr/>
        </p:nvSpPr>
        <p:spPr>
          <a:xfrm>
            <a:off x="365760" y="3255264"/>
            <a:ext cx="7315200" cy="1005840"/>
          </a:xfrm>
          <a:prstGeom prst="rect">
            <a:avLst/>
          </a:prstGeom>
          <a:noFill/>
        </p:spPr>
        <p:txBody>
          <a:bodyPr wrap="square">
            <a:spAutoFit/>
          </a:bodyPr>
          <a:lstStyle/>
          <a:p>
            <a:pPr algn="l"/>
            <a:r>
              <a:rPr sz="1100" b="0" i="0">
                <a:solidFill>
                  <a:srgbClr val="0F1419"/>
                </a:solidFill>
                <a:latin typeface="Calibri"/>
              </a:rPr>
              <a:t>This project demonstrates how modern Cisco networking technologies—when properly architected—can provide municipalities with the situational awareness needed to make life-saving decisions. Early detection systems powered by IoT sensors and intelligent routing can compress response time from hours to minutes.</a:t>
            </a:r>
          </a:p>
        </p:txBody>
      </p:sp>
      <p:sp>
        <p:nvSpPr>
          <p:cNvPr id="8" name="Oval 7"/>
          <p:cNvSpPr/>
          <p:nvPr/>
        </p:nvSpPr>
        <p:spPr>
          <a:xfrm>
            <a:off x="8412480" y="1737360"/>
            <a:ext cx="2926080" cy="2926080"/>
          </a:xfrm>
          <a:prstGeom prst="ellipse">
            <a:avLst/>
          </a:prstGeom>
          <a:solidFill>
            <a:srgbClr val="1A2332"/>
          </a:solidFill>
          <a:ln w="381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03920" y="2514600"/>
            <a:ext cx="2743200" cy="1371600"/>
          </a:xfrm>
          <a:prstGeom prst="rect">
            <a:avLst/>
          </a:prstGeom>
          <a:noFill/>
        </p:spPr>
        <p:txBody>
          <a:bodyPr wrap="square">
            <a:spAutoFit/>
          </a:bodyPr>
          <a:lstStyle/>
          <a:p>
            <a:pPr algn="ctr"/>
            <a:r>
              <a:rPr sz="1800" b="1" i="0">
                <a:solidFill>
                  <a:srgbClr val="FFFFFF"/>
                </a:solidFill>
                <a:latin typeface="Calibri"/>
              </a:rPr>
              <a:t>1M+
Affected
51+ Deaths</a:t>
            </a:r>
          </a:p>
        </p:txBody>
      </p:sp>
      <p:sp>
        <p:nvSpPr>
          <p:cNvPr id="10" name="TextBox 9"/>
          <p:cNvSpPr txBox="1"/>
          <p:nvPr/>
        </p:nvSpPr>
        <p:spPr>
          <a:xfrm>
            <a:off x="8229600" y="5029200"/>
            <a:ext cx="3291840" cy="457200"/>
          </a:xfrm>
          <a:prstGeom prst="rect">
            <a:avLst/>
          </a:prstGeom>
          <a:noFill/>
        </p:spPr>
        <p:txBody>
          <a:bodyPr wrap="square">
            <a:spAutoFit/>
          </a:bodyPr>
          <a:lstStyle/>
          <a:p>
            <a:pPr algn="ctr"/>
            <a:r>
              <a:rPr sz="900" b="1" i="0">
                <a:solidFill>
                  <a:srgbClr val="FF6B35"/>
                </a:solidFill>
                <a:latin typeface="Calibri"/>
              </a:rPr>
              <a:t>2023 Chattogram Floods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65760" y="182880"/>
            <a:ext cx="10972800" cy="685800"/>
          </a:xfrm>
          <a:prstGeom prst="rect">
            <a:avLst/>
          </a:prstGeom>
          <a:noFill/>
        </p:spPr>
        <p:txBody>
          <a:bodyPr wrap="square">
            <a:spAutoFit/>
          </a:bodyPr>
          <a:lstStyle/>
          <a:p>
            <a:pPr algn="l"/>
            <a:r>
              <a:rPr sz="3200" b="1" i="0">
                <a:solidFill>
                  <a:srgbClr val="1A2332"/>
                </a:solidFill>
                <a:latin typeface="Calibri"/>
              </a:rPr>
              <a:t>Why This Network is Needed</a:t>
            </a:r>
          </a:p>
        </p:txBody>
      </p:sp>
      <p:sp>
        <p:nvSpPr>
          <p:cNvPr id="3" name="Rectangle 2"/>
          <p:cNvSpPr/>
          <p:nvPr/>
        </p:nvSpPr>
        <p:spPr>
          <a:xfrm>
            <a:off x="365760" y="914400"/>
            <a:ext cx="2743200" cy="25400"/>
          </a:xfrm>
          <a:prstGeom prst="rect">
            <a:avLst/>
          </a:prstGeom>
          <a:solidFill>
            <a:srgbClr val="00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035040" y="1005840"/>
            <a:ext cx="19050" cy="5486400"/>
          </a:xfrm>
          <a:prstGeom prst="rect">
            <a:avLst/>
          </a:prstGeom>
          <a:solidFill>
            <a:srgbClr val="00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051560"/>
            <a:ext cx="5486400" cy="365760"/>
          </a:xfrm>
          <a:prstGeom prst="rect">
            <a:avLst/>
          </a:prstGeom>
          <a:noFill/>
        </p:spPr>
        <p:txBody>
          <a:bodyPr wrap="square">
            <a:spAutoFit/>
          </a:bodyPr>
          <a:lstStyle/>
          <a:p>
            <a:pPr algn="l"/>
            <a:r>
              <a:rPr sz="1300" b="1" i="0">
                <a:solidFill>
                  <a:srgbClr val="FF6B35"/>
                </a:solidFill>
                <a:latin typeface="Calibri"/>
              </a:rPr>
              <a:t>Current Challenges</a:t>
            </a:r>
          </a:p>
        </p:txBody>
      </p:sp>
      <p:sp>
        <p:nvSpPr>
          <p:cNvPr id="6" name="TextBox 5"/>
          <p:cNvSpPr txBox="1"/>
          <p:nvPr/>
        </p:nvSpPr>
        <p:spPr>
          <a:xfrm>
            <a:off x="457200" y="1463040"/>
            <a:ext cx="5303520" cy="777240"/>
          </a:xfrm>
          <a:prstGeom prst="rect">
            <a:avLst/>
          </a:prstGeom>
          <a:noFill/>
        </p:spPr>
        <p:txBody>
          <a:bodyPr wrap="square">
            <a:spAutoFit/>
          </a:bodyPr>
          <a:lstStyle/>
          <a:p>
            <a:pPr algn="l"/>
            <a:r>
              <a:rPr sz="1050" b="0" i="0">
                <a:solidFill>
                  <a:srgbClr val="0F1419"/>
                </a:solidFill>
                <a:latin typeface="Calibri"/>
              </a:rPr>
              <a:t>• Manual surveillance systems have limited geographic coverage and delayed response times (hours not minutes)</a:t>
            </a:r>
          </a:p>
        </p:txBody>
      </p:sp>
      <p:sp>
        <p:nvSpPr>
          <p:cNvPr id="7" name="TextBox 6"/>
          <p:cNvSpPr txBox="1"/>
          <p:nvPr/>
        </p:nvSpPr>
        <p:spPr>
          <a:xfrm>
            <a:off x="457200" y="2286000"/>
            <a:ext cx="5303520" cy="777240"/>
          </a:xfrm>
          <a:prstGeom prst="rect">
            <a:avLst/>
          </a:prstGeom>
          <a:noFill/>
        </p:spPr>
        <p:txBody>
          <a:bodyPr wrap="square">
            <a:spAutoFit/>
          </a:bodyPr>
          <a:lstStyle/>
          <a:p>
            <a:pPr algn="l"/>
            <a:r>
              <a:rPr sz="1050" b="0" i="0">
                <a:solidFill>
                  <a:srgbClr val="0F1419"/>
                </a:solidFill>
                <a:latin typeface="Calibri"/>
              </a:rPr>
              <a:t>• No centralized data aggregation — emergency decisions are reactive rather than proactive</a:t>
            </a:r>
          </a:p>
        </p:txBody>
      </p:sp>
      <p:sp>
        <p:nvSpPr>
          <p:cNvPr id="8" name="TextBox 7"/>
          <p:cNvSpPr txBox="1"/>
          <p:nvPr/>
        </p:nvSpPr>
        <p:spPr>
          <a:xfrm>
            <a:off x="457200" y="3108960"/>
            <a:ext cx="5303520" cy="777240"/>
          </a:xfrm>
          <a:prstGeom prst="rect">
            <a:avLst/>
          </a:prstGeom>
          <a:noFill/>
        </p:spPr>
        <p:txBody>
          <a:bodyPr wrap="square">
            <a:spAutoFit/>
          </a:bodyPr>
          <a:lstStyle/>
          <a:p>
            <a:pPr algn="l"/>
            <a:r>
              <a:rPr sz="1050" b="0" i="0">
                <a:solidFill>
                  <a:srgbClr val="0F1419"/>
                </a:solidFill>
                <a:latin typeface="Calibri"/>
              </a:rPr>
              <a:t>• Isolated monitoring stations cannot communicate with each other or central authority in real-time</a:t>
            </a:r>
          </a:p>
        </p:txBody>
      </p:sp>
      <p:sp>
        <p:nvSpPr>
          <p:cNvPr id="9" name="TextBox 8"/>
          <p:cNvSpPr txBox="1"/>
          <p:nvPr/>
        </p:nvSpPr>
        <p:spPr>
          <a:xfrm>
            <a:off x="457200" y="3931920"/>
            <a:ext cx="5303520" cy="777240"/>
          </a:xfrm>
          <a:prstGeom prst="rect">
            <a:avLst/>
          </a:prstGeom>
          <a:noFill/>
        </p:spPr>
        <p:txBody>
          <a:bodyPr wrap="square">
            <a:spAutoFit/>
          </a:bodyPr>
          <a:lstStyle/>
          <a:p>
            <a:pPr algn="l"/>
            <a:r>
              <a:rPr sz="1050" b="0" i="0">
                <a:solidFill>
                  <a:srgbClr val="0F1419"/>
                </a:solidFill>
                <a:latin typeface="Calibri"/>
              </a:rPr>
              <a:t>• Critical alert information (SMS, email) may not reach emergency response teams due to network issues</a:t>
            </a:r>
          </a:p>
        </p:txBody>
      </p:sp>
      <p:sp>
        <p:nvSpPr>
          <p:cNvPr id="10" name="TextBox 9"/>
          <p:cNvSpPr txBox="1"/>
          <p:nvPr/>
        </p:nvSpPr>
        <p:spPr>
          <a:xfrm>
            <a:off x="6263640" y="1051560"/>
            <a:ext cx="5486400" cy="365760"/>
          </a:xfrm>
          <a:prstGeom prst="rect">
            <a:avLst/>
          </a:prstGeom>
          <a:noFill/>
        </p:spPr>
        <p:txBody>
          <a:bodyPr wrap="square">
            <a:spAutoFit/>
          </a:bodyPr>
          <a:lstStyle/>
          <a:p>
            <a:pPr algn="l"/>
            <a:r>
              <a:rPr sz="1300" b="1" i="0">
                <a:solidFill>
                  <a:srgbClr val="00D4FF"/>
                </a:solidFill>
                <a:latin typeface="Calibri"/>
              </a:rPr>
              <a:t>Our Solution</a:t>
            </a:r>
          </a:p>
        </p:txBody>
      </p:sp>
      <p:sp>
        <p:nvSpPr>
          <p:cNvPr id="11" name="TextBox 10"/>
          <p:cNvSpPr txBox="1"/>
          <p:nvPr/>
        </p:nvSpPr>
        <p:spPr>
          <a:xfrm>
            <a:off x="6263640" y="1463040"/>
            <a:ext cx="5394960" cy="777240"/>
          </a:xfrm>
          <a:prstGeom prst="rect">
            <a:avLst/>
          </a:prstGeom>
          <a:noFill/>
        </p:spPr>
        <p:txBody>
          <a:bodyPr wrap="square">
            <a:spAutoFit/>
          </a:bodyPr>
          <a:lstStyle/>
          <a:p>
            <a:pPr algn="l"/>
            <a:r>
              <a:rPr sz="1050" b="0" i="0">
                <a:solidFill>
                  <a:srgbClr val="0F1419"/>
                </a:solidFill>
                <a:latin typeface="Calibri"/>
              </a:rPr>
              <a:t>• Distributed IoT sensors with real-time wireless connectivity (20+ devices across 4 zones)</a:t>
            </a:r>
          </a:p>
        </p:txBody>
      </p:sp>
      <p:sp>
        <p:nvSpPr>
          <p:cNvPr id="12" name="TextBox 11"/>
          <p:cNvSpPr txBox="1"/>
          <p:nvPr/>
        </p:nvSpPr>
        <p:spPr>
          <a:xfrm>
            <a:off x="6263640" y="2286000"/>
            <a:ext cx="5394960" cy="777240"/>
          </a:xfrm>
          <a:prstGeom prst="rect">
            <a:avLst/>
          </a:prstGeom>
          <a:noFill/>
        </p:spPr>
        <p:txBody>
          <a:bodyPr wrap="square">
            <a:spAutoFit/>
          </a:bodyPr>
          <a:lstStyle/>
          <a:p>
            <a:pPr algn="l"/>
            <a:r>
              <a:rPr sz="1050" b="0" i="0">
                <a:solidFill>
                  <a:srgbClr val="0F1419"/>
                </a:solidFill>
                <a:latin typeface="Calibri"/>
              </a:rPr>
              <a:t>• Hierarchical network architecture ensures no single point of failure</a:t>
            </a:r>
          </a:p>
        </p:txBody>
      </p:sp>
      <p:sp>
        <p:nvSpPr>
          <p:cNvPr id="13" name="TextBox 12"/>
          <p:cNvSpPr txBox="1"/>
          <p:nvPr/>
        </p:nvSpPr>
        <p:spPr>
          <a:xfrm>
            <a:off x="6263640" y="3108960"/>
            <a:ext cx="5394960" cy="777240"/>
          </a:xfrm>
          <a:prstGeom prst="rect">
            <a:avLst/>
          </a:prstGeom>
          <a:noFill/>
        </p:spPr>
        <p:txBody>
          <a:bodyPr wrap="square">
            <a:spAutoFit/>
          </a:bodyPr>
          <a:lstStyle/>
          <a:p>
            <a:pPr algn="l"/>
            <a:r>
              <a:rPr sz="1050" b="0" i="0">
                <a:solidFill>
                  <a:srgbClr val="0F1419"/>
                </a:solidFill>
                <a:latin typeface="Calibri"/>
              </a:rPr>
              <a:t>• Dynamic routing (OSPF) automatically reroutes data if primary paths fail</a:t>
            </a:r>
          </a:p>
        </p:txBody>
      </p:sp>
      <p:sp>
        <p:nvSpPr>
          <p:cNvPr id="14" name="TextBox 13"/>
          <p:cNvSpPr txBox="1"/>
          <p:nvPr/>
        </p:nvSpPr>
        <p:spPr>
          <a:xfrm>
            <a:off x="6263640" y="3931920"/>
            <a:ext cx="5394960" cy="777240"/>
          </a:xfrm>
          <a:prstGeom prst="rect">
            <a:avLst/>
          </a:prstGeom>
          <a:noFill/>
        </p:spPr>
        <p:txBody>
          <a:bodyPr wrap="square">
            <a:spAutoFit/>
          </a:bodyPr>
          <a:lstStyle/>
          <a:p>
            <a:pPr algn="l"/>
            <a:r>
              <a:rPr sz="1050" b="0" i="0">
                <a:solidFill>
                  <a:srgbClr val="0F1419"/>
                </a:solidFill>
                <a:latin typeface="Calibri"/>
              </a:rPr>
              <a:t>• Centralized monitoring dashboard with email/web alerts to authorities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E8EAED"/>
        </a:solidFill>
        <a:effectLst/>
      </p:bgPr>
    </p:bg>
    <p:spTree>
      <p:nvGrpSpPr>
        <p:cNvPr id="1" name=""/>
        <p:cNvGrpSpPr/>
        <p:nvPr/>
      </p:nvGrpSpPr>
      <p:grpSpPr/>
      <p:sp>
        <p:nvSpPr>
          <p:cNvPr id="2" name="TextBox 1"/>
          <p:cNvSpPr txBox="1"/>
          <p:nvPr/>
        </p:nvSpPr>
        <p:spPr>
          <a:xfrm>
            <a:off x="365760" y="137160"/>
            <a:ext cx="10972800" cy="594360"/>
          </a:xfrm>
          <a:prstGeom prst="rect">
            <a:avLst/>
          </a:prstGeom>
          <a:noFill/>
        </p:spPr>
        <p:txBody>
          <a:bodyPr wrap="square">
            <a:spAutoFit/>
          </a:bodyPr>
          <a:lstStyle/>
          <a:p>
            <a:pPr algn="l"/>
            <a:r>
              <a:rPr sz="3000" b="1" i="0">
                <a:solidFill>
                  <a:srgbClr val="1A2332"/>
                </a:solidFill>
                <a:latin typeface="Calibri"/>
              </a:rPr>
              <a:t>Network Architecture at a Glance</a:t>
            </a:r>
          </a:p>
        </p:txBody>
      </p:sp>
      <p:sp>
        <p:nvSpPr>
          <p:cNvPr id="3" name="Rectangle 2"/>
          <p:cNvSpPr/>
          <p:nvPr/>
        </p:nvSpPr>
        <p:spPr>
          <a:xfrm>
            <a:off x="365760" y="777240"/>
            <a:ext cx="3200400" cy="25400"/>
          </a:xfrm>
          <a:prstGeom prst="rect">
            <a:avLst/>
          </a:prstGeom>
          <a:solidFill>
            <a:srgbClr val="00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image.png"/>
          <p:cNvPicPr>
            <a:picLocks noChangeAspect="1"/>
          </p:cNvPicPr>
          <p:nvPr/>
        </p:nvPicPr>
        <p:blipFill>
          <a:blip r:embed="rId2"/>
          <a:stretch>
            <a:fillRect/>
          </a:stretch>
        </p:blipFill>
        <p:spPr>
          <a:xfrm>
            <a:off x="182880" y="914400"/>
            <a:ext cx="11795760" cy="5303520"/>
          </a:xfrm>
          <a:prstGeom prst="rect">
            <a:avLst/>
          </a:prstGeom>
        </p:spPr>
      </p:pic>
      <p:sp>
        <p:nvSpPr>
          <p:cNvPr id="5" name="TextBox 4"/>
          <p:cNvSpPr txBox="1"/>
          <p:nvPr/>
        </p:nvSpPr>
        <p:spPr>
          <a:xfrm>
            <a:off x="365760" y="6263640"/>
            <a:ext cx="10972800" cy="457200"/>
          </a:xfrm>
          <a:prstGeom prst="rect">
            <a:avLst/>
          </a:prstGeom>
          <a:noFill/>
        </p:spPr>
        <p:txBody>
          <a:bodyPr wrap="square">
            <a:spAutoFit/>
          </a:bodyPr>
          <a:lstStyle/>
          <a:p>
            <a:pPr algn="ctr"/>
            <a:r>
              <a:rPr sz="900" b="0" i="1">
                <a:solidFill>
                  <a:srgbClr val="0F1419"/>
                </a:solidFill>
                <a:latin typeface="Calibri"/>
              </a:rPr>
              <a:t>This three-tier hierarchical design (Core–Distribution–Access) ensures scalability, redundancy, and optimised data flow from 4 zones to the central monitoring office.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274320" y="91440"/>
            <a:ext cx="11430000" cy="502920"/>
          </a:xfrm>
          <a:prstGeom prst="rect">
            <a:avLst/>
          </a:prstGeom>
          <a:noFill/>
        </p:spPr>
        <p:txBody>
          <a:bodyPr wrap="square">
            <a:spAutoFit/>
          </a:bodyPr>
          <a:lstStyle/>
          <a:p>
            <a:pPr algn="l"/>
            <a:r>
              <a:rPr sz="2800" b="1" i="0">
                <a:solidFill>
                  <a:srgbClr val="1A2332"/>
                </a:solidFill>
                <a:latin typeface="Calibri"/>
              </a:rPr>
              <a:t>Complete Network Topology with All Components</a:t>
            </a:r>
          </a:p>
        </p:txBody>
      </p:sp>
      <p:sp>
        <p:nvSpPr>
          <p:cNvPr id="3" name="TextBox 2"/>
          <p:cNvSpPr txBox="1"/>
          <p:nvPr/>
        </p:nvSpPr>
        <p:spPr>
          <a:xfrm>
            <a:off x="274320" y="594360"/>
            <a:ext cx="11430000" cy="320040"/>
          </a:xfrm>
          <a:prstGeom prst="rect">
            <a:avLst/>
          </a:prstGeom>
          <a:noFill/>
        </p:spPr>
        <p:txBody>
          <a:bodyPr wrap="square">
            <a:spAutoFit/>
          </a:bodyPr>
          <a:lstStyle/>
          <a:p>
            <a:pPr algn="l"/>
            <a:r>
              <a:rPr sz="1100" b="0" i="1">
                <a:solidFill>
                  <a:srgbClr val="00D4FF"/>
                </a:solidFill>
                <a:latin typeface="Calibri"/>
              </a:rPr>
              <a:t>Simulated in Cisco Packet Tracer 8.2.2</a:t>
            </a:r>
          </a:p>
        </p:txBody>
      </p:sp>
      <p:pic>
        <p:nvPicPr>
          <p:cNvPr id="4" name="Picture 3" descr="image.png"/>
          <p:cNvPicPr>
            <a:picLocks noChangeAspect="1"/>
          </p:cNvPicPr>
          <p:nvPr/>
        </p:nvPicPr>
        <p:blipFill>
          <a:blip r:embed="rId2"/>
          <a:stretch>
            <a:fillRect/>
          </a:stretch>
        </p:blipFill>
        <p:spPr>
          <a:xfrm>
            <a:off x="91440" y="960120"/>
            <a:ext cx="11978640" cy="576072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20040" y="91440"/>
            <a:ext cx="10972800" cy="548640"/>
          </a:xfrm>
          <a:prstGeom prst="rect">
            <a:avLst/>
          </a:prstGeom>
          <a:noFill/>
        </p:spPr>
        <p:txBody>
          <a:bodyPr wrap="square">
            <a:spAutoFit/>
          </a:bodyPr>
          <a:lstStyle/>
          <a:p>
            <a:pPr algn="l"/>
            <a:r>
              <a:rPr sz="2800" b="1" i="0">
                <a:solidFill>
                  <a:srgbClr val="1A2332"/>
                </a:solidFill>
                <a:latin typeface="Calibri"/>
              </a:rPr>
              <a:t>VLAN Segmentation and IP Addressing Architecture</a:t>
            </a:r>
          </a:p>
        </p:txBody>
      </p:sp>
      <p:sp>
        <p:nvSpPr>
          <p:cNvPr id="3" name="TextBox 2"/>
          <p:cNvSpPr txBox="1"/>
          <p:nvPr/>
        </p:nvSpPr>
        <p:spPr>
          <a:xfrm>
            <a:off x="320040" y="621792"/>
            <a:ext cx="10972800" cy="320040"/>
          </a:xfrm>
          <a:prstGeom prst="rect">
            <a:avLst/>
          </a:prstGeom>
          <a:noFill/>
        </p:spPr>
        <p:txBody>
          <a:bodyPr wrap="square">
            <a:spAutoFit/>
          </a:bodyPr>
          <a:lstStyle/>
          <a:p>
            <a:pPr algn="l"/>
            <a:r>
              <a:rPr sz="1100" b="0" i="1">
                <a:solidFill>
                  <a:srgbClr val="00D4FF"/>
                </a:solidFill>
                <a:latin typeface="Calibri"/>
              </a:rPr>
              <a:t>Subnetting Strategy for Efficient Data Segmentation</a:t>
            </a:r>
          </a:p>
        </p:txBody>
      </p:sp>
      <p:sp>
        <p:nvSpPr>
          <p:cNvPr id="4" name="Rectangle 3"/>
          <p:cNvSpPr/>
          <p:nvPr/>
        </p:nvSpPr>
        <p:spPr>
          <a:xfrm>
            <a:off x="320040" y="914400"/>
            <a:ext cx="3200400" cy="19050"/>
          </a:xfrm>
          <a:prstGeom prst="rect">
            <a:avLst/>
          </a:prstGeom>
          <a:solidFill>
            <a:srgbClr val="00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20040" y="1005840"/>
            <a:ext cx="11155680" cy="457200"/>
          </a:xfrm>
          <a:prstGeom prst="rect">
            <a:avLst/>
          </a:prstGeom>
          <a:noFill/>
        </p:spPr>
        <p:txBody>
          <a:bodyPr wrap="square">
            <a:spAutoFit/>
          </a:bodyPr>
          <a:lstStyle/>
          <a:p>
            <a:pPr algn="l"/>
            <a:r>
              <a:rPr sz="950" b="0" i="0">
                <a:solidFill>
                  <a:srgbClr val="0F1419"/>
                </a:solidFill>
                <a:latin typeface="Calibri"/>
              </a:rPr>
              <a:t>The network employs VLAN segmentation to isolate traffic by zone and device type, ensuring security and reducing broadcast domains. Each zone operates as an independent VLAN while maintaining centralised management through OSPF routing.</a:t>
            </a:r>
          </a:p>
        </p:txBody>
      </p:sp>
      <p:pic>
        <p:nvPicPr>
          <p:cNvPr id="6" name="Picture 5" descr="image.png"/>
          <p:cNvPicPr>
            <a:picLocks noChangeAspect="1"/>
          </p:cNvPicPr>
          <p:nvPr/>
        </p:nvPicPr>
        <p:blipFill>
          <a:blip r:embed="rId2"/>
          <a:stretch>
            <a:fillRect/>
          </a:stretch>
        </p:blipFill>
        <p:spPr>
          <a:xfrm>
            <a:off x="182880" y="1508760"/>
            <a:ext cx="11795760" cy="3657600"/>
          </a:xfrm>
          <a:prstGeom prst="rect">
            <a:avLst/>
          </a:prstGeom>
        </p:spPr>
      </p:pic>
      <p:sp>
        <p:nvSpPr>
          <p:cNvPr id="7" name="TextBox 6"/>
          <p:cNvSpPr txBox="1"/>
          <p:nvPr/>
        </p:nvSpPr>
        <p:spPr>
          <a:xfrm>
            <a:off x="320040" y="5257800"/>
            <a:ext cx="5669280" cy="1463040"/>
          </a:xfrm>
          <a:prstGeom prst="rect">
            <a:avLst/>
          </a:prstGeom>
          <a:noFill/>
        </p:spPr>
        <p:txBody>
          <a:bodyPr wrap="square">
            <a:spAutoFit/>
          </a:bodyPr>
          <a:lstStyle/>
          <a:p>
            <a:pPr algn="l"/>
            <a:r>
              <a:rPr sz="850" b="0" i="0">
                <a:solidFill>
                  <a:srgbClr val="0F1419"/>
                </a:solidFill>
                <a:latin typeface="Calibri"/>
              </a:rPr>
              <a:t>IP Allocation Strategy:
• Class A Private (10.0.0.0/8) for internal
• /24 subnets = 254 usable hosts per VLAN
• Management VLANs isolated from sensor traffic
• Reduces broadcast storms &amp; improves security</a:t>
            </a:r>
          </a:p>
        </p:txBody>
      </p:sp>
      <p:sp>
        <p:nvSpPr>
          <p:cNvPr id="8" name="TextBox 7"/>
          <p:cNvSpPr txBox="1"/>
          <p:nvPr/>
        </p:nvSpPr>
        <p:spPr>
          <a:xfrm>
            <a:off x="6126480" y="5257800"/>
            <a:ext cx="5669280" cy="1463040"/>
          </a:xfrm>
          <a:prstGeom prst="rect">
            <a:avLst/>
          </a:prstGeom>
          <a:noFill/>
        </p:spPr>
        <p:txBody>
          <a:bodyPr wrap="square">
            <a:spAutoFit/>
          </a:bodyPr>
          <a:lstStyle/>
          <a:p>
            <a:pPr algn="l"/>
            <a:r>
              <a:rPr sz="850" b="0" i="0">
                <a:solidFill>
                  <a:srgbClr val="0F1419"/>
                </a:solidFill>
                <a:latin typeface="Calibri"/>
              </a:rPr>
              <a:t>DHCP Configuration:
• Zone 1: 10.1.1.100–200 (101 sensor addresses)
• Zone 2: 10.2.1.100–200
• Zone 3: 10.3.1.100–200
• Zone 4: 10.4.1.100–200
• Servers: Static 10.0.100.1–5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65760" y="91440"/>
            <a:ext cx="10972800" cy="594360"/>
          </a:xfrm>
          <a:prstGeom prst="rect">
            <a:avLst/>
          </a:prstGeom>
          <a:noFill/>
        </p:spPr>
        <p:txBody>
          <a:bodyPr wrap="square">
            <a:spAutoFit/>
          </a:bodyPr>
          <a:lstStyle/>
          <a:p>
            <a:pPr algn="l"/>
            <a:r>
              <a:rPr sz="3000" b="1" i="0">
                <a:solidFill>
                  <a:srgbClr val="1A2332"/>
                </a:solidFill>
                <a:latin typeface="Calibri"/>
              </a:rPr>
              <a:t>OSPF Multi-Area Routing Configuration</a:t>
            </a:r>
          </a:p>
        </p:txBody>
      </p:sp>
      <p:sp>
        <p:nvSpPr>
          <p:cNvPr id="3" name="TextBox 2"/>
          <p:cNvSpPr txBox="1"/>
          <p:nvPr/>
        </p:nvSpPr>
        <p:spPr>
          <a:xfrm>
            <a:off x="365760" y="667512"/>
            <a:ext cx="10972800" cy="320040"/>
          </a:xfrm>
          <a:prstGeom prst="rect">
            <a:avLst/>
          </a:prstGeom>
          <a:noFill/>
        </p:spPr>
        <p:txBody>
          <a:bodyPr wrap="square">
            <a:spAutoFit/>
          </a:bodyPr>
          <a:lstStyle/>
          <a:p>
            <a:pPr algn="l"/>
            <a:r>
              <a:rPr sz="1100" b="0" i="1">
                <a:solidFill>
                  <a:srgbClr val="00D4FF"/>
                </a:solidFill>
                <a:latin typeface="Calibri"/>
              </a:rPr>
              <a:t>Dynamic Path Selection &amp; Redundancy via Open Shortest Path First</a:t>
            </a:r>
          </a:p>
        </p:txBody>
      </p:sp>
      <p:sp>
        <p:nvSpPr>
          <p:cNvPr id="4" name="Rectangle 3"/>
          <p:cNvSpPr/>
          <p:nvPr/>
        </p:nvSpPr>
        <p:spPr>
          <a:xfrm>
            <a:off x="365760" y="960120"/>
            <a:ext cx="4114800" cy="25400"/>
          </a:xfrm>
          <a:prstGeom prst="rect">
            <a:avLst/>
          </a:prstGeom>
          <a:solidFill>
            <a:srgbClr val="00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png"/>
          <p:cNvPicPr>
            <a:picLocks noChangeAspect="1"/>
          </p:cNvPicPr>
          <p:nvPr/>
        </p:nvPicPr>
        <p:blipFill>
          <a:blip r:embed="rId2"/>
          <a:stretch>
            <a:fillRect/>
          </a:stretch>
        </p:blipFill>
        <p:spPr>
          <a:xfrm>
            <a:off x="91440" y="1051560"/>
            <a:ext cx="7772400" cy="5029200"/>
          </a:xfrm>
          <a:prstGeom prst="rect">
            <a:avLst/>
          </a:prstGeom>
        </p:spPr>
      </p:pic>
      <p:sp>
        <p:nvSpPr>
          <p:cNvPr id="6" name="TextBox 5"/>
          <p:cNvSpPr txBox="1"/>
          <p:nvPr/>
        </p:nvSpPr>
        <p:spPr>
          <a:xfrm>
            <a:off x="8001000" y="1097280"/>
            <a:ext cx="4023360" cy="5029200"/>
          </a:xfrm>
          <a:prstGeom prst="rect">
            <a:avLst/>
          </a:prstGeom>
          <a:noFill/>
        </p:spPr>
        <p:txBody>
          <a:bodyPr wrap="none">
            <a:spAutoFit/>
          </a:bodyPr>
          <a:lstStyle/>
          <a:p>
            <a:r>
              <a:rPr sz="850">
                <a:solidFill>
                  <a:srgbClr val="00D4FF"/>
                </a:solidFill>
                <a:latin typeface="Courier New"/>
              </a:rPr>
              <a:t>router ospf 1
 router-id 0.0.0.1
 network 10.0.0.0 0.0.255.255 area 0
 network 10.1.0.0 0.0.255.255 area 1
 network 10.2.0.0 0.0.255.255 area 2
 network 10.3.0.0 0.0.255.255 area 3
 network 10.4.0.0 0.0.255.255 area 4
 passive-interface default
 no passive-interface Gi0/0
 no passive-interface Gi0/1
 area 0 authentication message-digest
!
interface Gi0/0
 ip ospf hello-interval 10
 ip ospf dead-interval 40
 ip ospf priority 100
</a:t>
            </a:r>
          </a:p>
        </p:txBody>
      </p:sp>
      <p:sp>
        <p:nvSpPr>
          <p:cNvPr id="7" name="Rectangle 6"/>
          <p:cNvSpPr/>
          <p:nvPr/>
        </p:nvSpPr>
        <p:spPr>
          <a:xfrm>
            <a:off x="7955279" y="1051560"/>
            <a:ext cx="4114800" cy="5029200"/>
          </a:xfrm>
          <a:prstGeom prst="rect">
            <a:avLst/>
          </a:prstGeom>
          <a:solidFill>
            <a:srgbClr val="0F1419"/>
          </a:solidFill>
          <a:ln w="12700">
            <a:solidFill>
              <a:srgbClr val="00D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1000" y="1097280"/>
            <a:ext cx="4023360" cy="5029200"/>
          </a:xfrm>
          <a:prstGeom prst="rect">
            <a:avLst/>
          </a:prstGeom>
          <a:noFill/>
        </p:spPr>
        <p:txBody>
          <a:bodyPr wrap="none">
            <a:spAutoFit/>
          </a:bodyPr>
          <a:lstStyle/>
          <a:p>
            <a:r>
              <a:rPr sz="850">
                <a:solidFill>
                  <a:srgbClr val="00D4FF"/>
                </a:solidFill>
                <a:latin typeface="Courier New"/>
              </a:rPr>
              <a:t>router ospf 1
 router-id 0.0.0.1
 network 10.0.0.0 0.0.255.255 area 0
 network 10.1.0.0 0.0.255.255 area 1
 network 10.2.0.0 0.0.255.255 area 2
 network 10.3.0.0 0.0.255.255 area 3
 network 10.4.0.0 0.0.255.255 area 4
 passive-interface default
 no passive-interface Gi0/0
 no passive-interface Gi0/1
 area 0 authentication message-digest
!
interface Gi0/0
 ip ospf hello-interval 10
 ip ospf dead-interval 40
 ip ospf priority 100
</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65760" y="91440"/>
            <a:ext cx="10972800" cy="594360"/>
          </a:xfrm>
          <a:prstGeom prst="rect">
            <a:avLst/>
          </a:prstGeom>
          <a:noFill/>
        </p:spPr>
        <p:txBody>
          <a:bodyPr wrap="square">
            <a:spAutoFit/>
          </a:bodyPr>
          <a:lstStyle/>
          <a:p>
            <a:pPr algn="l"/>
            <a:r>
              <a:rPr sz="3000" b="1" i="0">
                <a:solidFill>
                  <a:srgbClr val="1A2332"/>
                </a:solidFill>
                <a:latin typeface="Calibri"/>
              </a:rPr>
              <a:t>NAT &amp; ACL — Network Security Architecture</a:t>
            </a:r>
          </a:p>
        </p:txBody>
      </p:sp>
      <p:sp>
        <p:nvSpPr>
          <p:cNvPr id="3" name="TextBox 2"/>
          <p:cNvSpPr txBox="1"/>
          <p:nvPr/>
        </p:nvSpPr>
        <p:spPr>
          <a:xfrm>
            <a:off x="365760" y="667512"/>
            <a:ext cx="10972800" cy="320040"/>
          </a:xfrm>
          <a:prstGeom prst="rect">
            <a:avLst/>
          </a:prstGeom>
          <a:noFill/>
        </p:spPr>
        <p:txBody>
          <a:bodyPr wrap="square">
            <a:spAutoFit/>
          </a:bodyPr>
          <a:lstStyle/>
          <a:p>
            <a:pPr algn="l"/>
            <a:r>
              <a:rPr sz="1100" b="0" i="1">
                <a:solidFill>
                  <a:srgbClr val="00D4FF"/>
                </a:solidFill>
                <a:latin typeface="Calibri"/>
              </a:rPr>
              <a:t>Network Address Translation + Access Control Lists for perimeter security</a:t>
            </a:r>
          </a:p>
        </p:txBody>
      </p:sp>
      <p:sp>
        <p:nvSpPr>
          <p:cNvPr id="4" name="Rectangle 3"/>
          <p:cNvSpPr/>
          <p:nvPr/>
        </p:nvSpPr>
        <p:spPr>
          <a:xfrm>
            <a:off x="365760" y="960120"/>
            <a:ext cx="3657600" cy="25400"/>
          </a:xfrm>
          <a:prstGeom prst="rect">
            <a:avLst/>
          </a:prstGeom>
          <a:solidFill>
            <a:srgbClr val="FF6B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png"/>
          <p:cNvPicPr>
            <a:picLocks noChangeAspect="1"/>
          </p:cNvPicPr>
          <p:nvPr/>
        </p:nvPicPr>
        <p:blipFill>
          <a:blip r:embed="rId2"/>
          <a:stretch>
            <a:fillRect/>
          </a:stretch>
        </p:blipFill>
        <p:spPr>
          <a:xfrm>
            <a:off x="91440" y="1051560"/>
            <a:ext cx="11978640" cy="4389120"/>
          </a:xfrm>
          <a:prstGeom prst="rect">
            <a:avLst/>
          </a:prstGeom>
        </p:spPr>
      </p:pic>
      <p:sp>
        <p:nvSpPr>
          <p:cNvPr id="6" name="TextBox 5"/>
          <p:cNvSpPr txBox="1"/>
          <p:nvPr/>
        </p:nvSpPr>
        <p:spPr>
          <a:xfrm>
            <a:off x="365760" y="5577840"/>
            <a:ext cx="11430000" cy="1097280"/>
          </a:xfrm>
          <a:prstGeom prst="rect">
            <a:avLst/>
          </a:prstGeom>
          <a:noFill/>
        </p:spPr>
        <p:txBody>
          <a:bodyPr wrap="square">
            <a:spAutoFit/>
          </a:bodyPr>
          <a:lstStyle/>
          <a:p>
            <a:pPr algn="l"/>
            <a:r>
              <a:rPr sz="950" b="0" i="0">
                <a:solidFill>
                  <a:srgbClr val="0F1419"/>
                </a:solidFill>
                <a:latin typeface="Calibri"/>
              </a:rPr>
              <a:t>Key Security Design Decisions:
• NAT Overload (PAT) allows all 20+ IoT devices to share a single public IP — conserving address space
• Extended ACL 101 explicitly denies all unsolicited inbound traffic — prevents remote intrusion
• Only SMTP, HTTP, HTTPS permitted outbound — minimises attack surface
• Internal zone-to-zone traffic (10.0.0.0/8) always permitted — no bottleneck on CMO router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65760" y="91440"/>
            <a:ext cx="10972800" cy="594360"/>
          </a:xfrm>
          <a:prstGeom prst="rect">
            <a:avLst/>
          </a:prstGeom>
          <a:noFill/>
        </p:spPr>
        <p:txBody>
          <a:bodyPr wrap="square">
            <a:spAutoFit/>
          </a:bodyPr>
          <a:lstStyle/>
          <a:p>
            <a:pPr algn="l"/>
            <a:r>
              <a:rPr sz="3000" b="1" i="0">
                <a:solidFill>
                  <a:srgbClr val="1A2332"/>
                </a:solidFill>
                <a:latin typeface="Calibri"/>
              </a:rPr>
              <a:t>IoT Sensor Deployment — Zone-by-Zone Inventory</a:t>
            </a:r>
          </a:p>
        </p:txBody>
      </p:sp>
      <p:sp>
        <p:nvSpPr>
          <p:cNvPr id="3" name="TextBox 2"/>
          <p:cNvSpPr txBox="1"/>
          <p:nvPr/>
        </p:nvSpPr>
        <p:spPr>
          <a:xfrm>
            <a:off x="365760" y="667512"/>
            <a:ext cx="10972800" cy="320040"/>
          </a:xfrm>
          <a:prstGeom prst="rect">
            <a:avLst/>
          </a:prstGeom>
          <a:noFill/>
        </p:spPr>
        <p:txBody>
          <a:bodyPr wrap="square">
            <a:spAutoFit/>
          </a:bodyPr>
          <a:lstStyle/>
          <a:p>
            <a:pPr algn="l"/>
            <a:r>
              <a:rPr sz="1100" b="0" i="1">
                <a:solidFill>
                  <a:srgbClr val="00D4FF"/>
                </a:solidFill>
                <a:latin typeface="Calibri"/>
              </a:rPr>
              <a:t>20 IoT devices across 4 strategic zones — all managed via DHCP &amp; OSPF</a:t>
            </a:r>
          </a:p>
        </p:txBody>
      </p:sp>
      <p:sp>
        <p:nvSpPr>
          <p:cNvPr id="4" name="Rectangle 3"/>
          <p:cNvSpPr/>
          <p:nvPr/>
        </p:nvSpPr>
        <p:spPr>
          <a:xfrm>
            <a:off x="365760" y="960120"/>
            <a:ext cx="3657600" cy="25400"/>
          </a:xfrm>
          <a:prstGeom prst="rect">
            <a:avLst/>
          </a:prstGeom>
          <a:solidFill>
            <a:srgbClr val="2ECC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png"/>
          <p:cNvPicPr>
            <a:picLocks noChangeAspect="1"/>
          </p:cNvPicPr>
          <p:nvPr/>
        </p:nvPicPr>
        <p:blipFill>
          <a:blip r:embed="rId2"/>
          <a:stretch>
            <a:fillRect/>
          </a:stretch>
        </p:blipFill>
        <p:spPr>
          <a:xfrm>
            <a:off x="91440" y="1051560"/>
            <a:ext cx="11978640" cy="557784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65760" y="91440"/>
            <a:ext cx="10972800" cy="594360"/>
          </a:xfrm>
          <a:prstGeom prst="rect">
            <a:avLst/>
          </a:prstGeom>
          <a:noFill/>
        </p:spPr>
        <p:txBody>
          <a:bodyPr wrap="square">
            <a:spAutoFit/>
          </a:bodyPr>
          <a:lstStyle/>
          <a:p>
            <a:pPr algn="l"/>
            <a:r>
              <a:rPr sz="3000" b="1" i="0">
                <a:solidFill>
                  <a:srgbClr val="1A2332"/>
                </a:solidFill>
                <a:latin typeface="Calibri"/>
              </a:rPr>
              <a:t>Simulation Results — Cisco Packet Tracer 8.2.2</a:t>
            </a:r>
          </a:p>
        </p:txBody>
      </p:sp>
      <p:sp>
        <p:nvSpPr>
          <p:cNvPr id="3" name="TextBox 2"/>
          <p:cNvSpPr txBox="1"/>
          <p:nvPr/>
        </p:nvSpPr>
        <p:spPr>
          <a:xfrm>
            <a:off x="365760" y="667512"/>
            <a:ext cx="10972800" cy="320040"/>
          </a:xfrm>
          <a:prstGeom prst="rect">
            <a:avLst/>
          </a:prstGeom>
          <a:noFill/>
        </p:spPr>
        <p:txBody>
          <a:bodyPr wrap="square">
            <a:spAutoFit/>
          </a:bodyPr>
          <a:lstStyle/>
          <a:p>
            <a:pPr algn="l"/>
            <a:r>
              <a:rPr sz="1100" b="0" i="1">
                <a:solidFill>
                  <a:srgbClr val="00D4FF"/>
                </a:solidFill>
                <a:latin typeface="Calibri"/>
              </a:rPr>
              <a:t>End-to-end connectivity verification across all zones and services</a:t>
            </a:r>
          </a:p>
        </p:txBody>
      </p:sp>
      <p:sp>
        <p:nvSpPr>
          <p:cNvPr id="4" name="Rectangle 3"/>
          <p:cNvSpPr/>
          <p:nvPr/>
        </p:nvSpPr>
        <p:spPr>
          <a:xfrm>
            <a:off x="365760" y="960120"/>
            <a:ext cx="3657600" cy="25400"/>
          </a:xfrm>
          <a:prstGeom prst="rect">
            <a:avLst/>
          </a:prstGeom>
          <a:solidFill>
            <a:srgbClr val="00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png"/>
          <p:cNvPicPr>
            <a:picLocks noChangeAspect="1"/>
          </p:cNvPicPr>
          <p:nvPr/>
        </p:nvPicPr>
        <p:blipFill>
          <a:blip r:embed="rId2"/>
          <a:stretch>
            <a:fillRect/>
          </a:stretch>
        </p:blipFill>
        <p:spPr>
          <a:xfrm>
            <a:off x="91440" y="1051560"/>
            <a:ext cx="11978640" cy="557784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65760" y="91440"/>
            <a:ext cx="10972800" cy="594360"/>
          </a:xfrm>
          <a:prstGeom prst="rect">
            <a:avLst/>
          </a:prstGeom>
          <a:noFill/>
        </p:spPr>
        <p:txBody>
          <a:bodyPr wrap="square">
            <a:spAutoFit/>
          </a:bodyPr>
          <a:lstStyle/>
          <a:p>
            <a:pPr algn="l"/>
            <a:r>
              <a:rPr sz="3000" b="1" i="0">
                <a:solidFill>
                  <a:srgbClr val="1A2332"/>
                </a:solidFill>
                <a:latin typeface="Calibri"/>
              </a:rPr>
              <a:t>Disaster Alert &amp; Response Workflow</a:t>
            </a:r>
          </a:p>
        </p:txBody>
      </p:sp>
      <p:sp>
        <p:nvSpPr>
          <p:cNvPr id="3" name="TextBox 2"/>
          <p:cNvSpPr txBox="1"/>
          <p:nvPr/>
        </p:nvSpPr>
        <p:spPr>
          <a:xfrm>
            <a:off x="365760" y="667512"/>
            <a:ext cx="10972800" cy="320040"/>
          </a:xfrm>
          <a:prstGeom prst="rect">
            <a:avLst/>
          </a:prstGeom>
          <a:noFill/>
        </p:spPr>
        <p:txBody>
          <a:bodyPr wrap="square">
            <a:spAutoFit/>
          </a:bodyPr>
          <a:lstStyle/>
          <a:p>
            <a:pPr algn="l"/>
            <a:r>
              <a:rPr sz="1100" b="0" i="1">
                <a:solidFill>
                  <a:srgbClr val="00D4FF"/>
                </a:solidFill>
                <a:latin typeface="Calibri"/>
              </a:rPr>
              <a:t>Automated sensor-to-authority pipeline — from detection to evacuation</a:t>
            </a:r>
          </a:p>
        </p:txBody>
      </p:sp>
      <p:sp>
        <p:nvSpPr>
          <p:cNvPr id="4" name="Rectangle 3"/>
          <p:cNvSpPr/>
          <p:nvPr/>
        </p:nvSpPr>
        <p:spPr>
          <a:xfrm>
            <a:off x="365760" y="960120"/>
            <a:ext cx="3657600" cy="25400"/>
          </a:xfrm>
          <a:prstGeom prst="rect">
            <a:avLst/>
          </a:prstGeom>
          <a:solidFill>
            <a:srgbClr val="FF6B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png"/>
          <p:cNvPicPr>
            <a:picLocks noChangeAspect="1"/>
          </p:cNvPicPr>
          <p:nvPr/>
        </p:nvPicPr>
        <p:blipFill>
          <a:blip r:embed="rId2"/>
          <a:stretch>
            <a:fillRect/>
          </a:stretch>
        </p:blipFill>
        <p:spPr>
          <a:xfrm>
            <a:off x="91440" y="1051560"/>
            <a:ext cx="11978640" cy="557784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65760" y="91440"/>
            <a:ext cx="10972800" cy="594360"/>
          </a:xfrm>
          <a:prstGeom prst="rect">
            <a:avLst/>
          </a:prstGeom>
          <a:noFill/>
        </p:spPr>
        <p:txBody>
          <a:bodyPr wrap="square">
            <a:spAutoFit/>
          </a:bodyPr>
          <a:lstStyle/>
          <a:p>
            <a:pPr algn="l"/>
            <a:r>
              <a:rPr sz="3000" b="1" i="0">
                <a:solidFill>
                  <a:srgbClr val="1A2332"/>
                </a:solidFill>
                <a:latin typeface="Calibri"/>
              </a:rPr>
              <a:t>Performance Metrics &amp; Network Testing</a:t>
            </a:r>
          </a:p>
        </p:txBody>
      </p:sp>
      <p:sp>
        <p:nvSpPr>
          <p:cNvPr id="3" name="TextBox 2"/>
          <p:cNvSpPr txBox="1"/>
          <p:nvPr/>
        </p:nvSpPr>
        <p:spPr>
          <a:xfrm>
            <a:off x="365760" y="667512"/>
            <a:ext cx="10972800" cy="320040"/>
          </a:xfrm>
          <a:prstGeom prst="rect">
            <a:avLst/>
          </a:prstGeom>
          <a:noFill/>
        </p:spPr>
        <p:txBody>
          <a:bodyPr wrap="square">
            <a:spAutoFit/>
          </a:bodyPr>
          <a:lstStyle/>
          <a:p>
            <a:pPr algn="l"/>
            <a:r>
              <a:rPr sz="1100" b="0" i="1">
                <a:solidFill>
                  <a:srgbClr val="00D4FF"/>
                </a:solidFill>
                <a:latin typeface="Calibri"/>
              </a:rPr>
              <a:t>Throughput, convergence time, and reliability measurements</a:t>
            </a:r>
          </a:p>
        </p:txBody>
      </p:sp>
      <p:sp>
        <p:nvSpPr>
          <p:cNvPr id="4" name="Rectangle 3"/>
          <p:cNvSpPr/>
          <p:nvPr/>
        </p:nvSpPr>
        <p:spPr>
          <a:xfrm>
            <a:off x="365760" y="960120"/>
            <a:ext cx="3657600" cy="25400"/>
          </a:xfrm>
          <a:prstGeom prst="rect">
            <a:avLst/>
          </a:prstGeom>
          <a:solidFill>
            <a:srgbClr val="00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png"/>
          <p:cNvPicPr>
            <a:picLocks noChangeAspect="1"/>
          </p:cNvPicPr>
          <p:nvPr/>
        </p:nvPicPr>
        <p:blipFill>
          <a:blip r:embed="rId2"/>
          <a:stretch>
            <a:fillRect/>
          </a:stretch>
        </p:blipFill>
        <p:spPr>
          <a:xfrm>
            <a:off x="91440" y="1051560"/>
            <a:ext cx="11978640" cy="5303520"/>
          </a:xfrm>
          <a:prstGeom prst="rect">
            <a:avLst/>
          </a:prstGeom>
        </p:spPr>
      </p:pic>
      <p:sp>
        <p:nvSpPr>
          <p:cNvPr id="6" name="TextBox 5"/>
          <p:cNvSpPr txBox="1"/>
          <p:nvPr/>
        </p:nvSpPr>
        <p:spPr>
          <a:xfrm>
            <a:off x="365760" y="6446520"/>
            <a:ext cx="11430000" cy="320040"/>
          </a:xfrm>
          <a:prstGeom prst="rect">
            <a:avLst/>
          </a:prstGeom>
          <a:noFill/>
        </p:spPr>
        <p:txBody>
          <a:bodyPr wrap="square">
            <a:spAutoFit/>
          </a:bodyPr>
          <a:lstStyle/>
          <a:p>
            <a:pPr algn="ctr"/>
            <a:r>
              <a:rPr sz="900" b="0" i="1">
                <a:solidFill>
                  <a:srgbClr val="0F1419"/>
                </a:solidFill>
                <a:latin typeface="Calibri"/>
              </a:rPr>
              <a:t>All metrics collected from Cisco Packet Tracer 8.2.2 simulation — PDU capture &amp; event log analysis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6080760" cy="6858000"/>
          </a:xfrm>
          <a:prstGeom prst="rect">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080760" y="0"/>
            <a:ext cx="610819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274320"/>
            <a:ext cx="5394960" cy="640080"/>
          </a:xfrm>
          <a:prstGeom prst="rect">
            <a:avLst/>
          </a:prstGeom>
          <a:noFill/>
        </p:spPr>
        <p:txBody>
          <a:bodyPr wrap="square">
            <a:spAutoFit/>
          </a:bodyPr>
          <a:lstStyle/>
          <a:p>
            <a:pPr algn="l"/>
            <a:r>
              <a:rPr sz="3200" b="1" i="0">
                <a:solidFill>
                  <a:srgbClr val="00D4FF"/>
                </a:solidFill>
                <a:latin typeface="Calibri"/>
              </a:rPr>
              <a:t>Conclusion</a:t>
            </a:r>
          </a:p>
        </p:txBody>
      </p:sp>
      <p:sp>
        <p:nvSpPr>
          <p:cNvPr id="5" name="Rectangle 4"/>
          <p:cNvSpPr/>
          <p:nvPr/>
        </p:nvSpPr>
        <p:spPr>
          <a:xfrm>
            <a:off x="320040" y="914400"/>
            <a:ext cx="2286000" cy="25400"/>
          </a:xfrm>
          <a:prstGeom prst="rect">
            <a:avLst/>
          </a:prstGeom>
          <a:solidFill>
            <a:srgbClr val="00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20040" y="1051560"/>
            <a:ext cx="5486400" cy="475488"/>
          </a:xfrm>
          <a:prstGeom prst="rect">
            <a:avLst/>
          </a:prstGeom>
          <a:noFill/>
        </p:spPr>
        <p:txBody>
          <a:bodyPr wrap="square">
            <a:spAutoFit/>
          </a:bodyPr>
          <a:lstStyle/>
          <a:p>
            <a:pPr algn="l"/>
            <a:r>
              <a:rPr sz="1000" b="0" i="0">
                <a:solidFill>
                  <a:srgbClr val="FFFFFF"/>
                </a:solidFill>
                <a:latin typeface="Calibri"/>
              </a:rPr>
              <a:t>✓  14-component Cisco Packet Tracer topology fully simulated</a:t>
            </a:r>
          </a:p>
        </p:txBody>
      </p:sp>
      <p:sp>
        <p:nvSpPr>
          <p:cNvPr id="7" name="TextBox 6"/>
          <p:cNvSpPr txBox="1"/>
          <p:nvPr/>
        </p:nvSpPr>
        <p:spPr>
          <a:xfrm>
            <a:off x="320040" y="1536192"/>
            <a:ext cx="5486400" cy="475488"/>
          </a:xfrm>
          <a:prstGeom prst="rect">
            <a:avLst/>
          </a:prstGeom>
          <a:noFill/>
        </p:spPr>
        <p:txBody>
          <a:bodyPr wrap="square">
            <a:spAutoFit/>
          </a:bodyPr>
          <a:lstStyle/>
          <a:p>
            <a:pPr algn="l"/>
            <a:r>
              <a:rPr sz="1000" b="0" i="0">
                <a:solidFill>
                  <a:srgbClr val="FFFFFF"/>
                </a:solidFill>
                <a:latin typeface="Calibri"/>
              </a:rPr>
              <a:t>✓  OSPF multi-area (0–4) converges in &lt; 2 minutes</a:t>
            </a:r>
          </a:p>
        </p:txBody>
      </p:sp>
      <p:sp>
        <p:nvSpPr>
          <p:cNvPr id="8" name="TextBox 7"/>
          <p:cNvSpPr txBox="1"/>
          <p:nvPr/>
        </p:nvSpPr>
        <p:spPr>
          <a:xfrm>
            <a:off x="320040" y="2020824"/>
            <a:ext cx="5486400" cy="475488"/>
          </a:xfrm>
          <a:prstGeom prst="rect">
            <a:avLst/>
          </a:prstGeom>
          <a:noFill/>
        </p:spPr>
        <p:txBody>
          <a:bodyPr wrap="square">
            <a:spAutoFit/>
          </a:bodyPr>
          <a:lstStyle/>
          <a:p>
            <a:pPr algn="l"/>
            <a:r>
              <a:rPr sz="1000" b="0" i="0">
                <a:solidFill>
                  <a:srgbClr val="FFFFFF"/>
                </a:solidFill>
                <a:latin typeface="Calibri"/>
              </a:rPr>
              <a:t>✓  20 IoT sensors operational across 4 flood-risk zones</a:t>
            </a:r>
          </a:p>
        </p:txBody>
      </p:sp>
      <p:sp>
        <p:nvSpPr>
          <p:cNvPr id="9" name="TextBox 8"/>
          <p:cNvSpPr txBox="1"/>
          <p:nvPr/>
        </p:nvSpPr>
        <p:spPr>
          <a:xfrm>
            <a:off x="320040" y="2505456"/>
            <a:ext cx="5486400" cy="475488"/>
          </a:xfrm>
          <a:prstGeom prst="rect">
            <a:avLst/>
          </a:prstGeom>
          <a:noFill/>
        </p:spPr>
        <p:txBody>
          <a:bodyPr wrap="square">
            <a:spAutoFit/>
          </a:bodyPr>
          <a:lstStyle/>
          <a:p>
            <a:pPr algn="l"/>
            <a:r>
              <a:rPr sz="1000" b="0" i="0">
                <a:solidFill>
                  <a:srgbClr val="FFFFFF"/>
                </a:solidFill>
                <a:latin typeface="Calibri"/>
              </a:rPr>
              <a:t>✓  DHCP, DNS, Web, Email &amp; Syslog servers all verified</a:t>
            </a:r>
          </a:p>
        </p:txBody>
      </p:sp>
      <p:sp>
        <p:nvSpPr>
          <p:cNvPr id="10" name="TextBox 9"/>
          <p:cNvSpPr txBox="1"/>
          <p:nvPr/>
        </p:nvSpPr>
        <p:spPr>
          <a:xfrm>
            <a:off x="320040" y="2990088"/>
            <a:ext cx="5486400" cy="475488"/>
          </a:xfrm>
          <a:prstGeom prst="rect">
            <a:avLst/>
          </a:prstGeom>
          <a:noFill/>
        </p:spPr>
        <p:txBody>
          <a:bodyPr wrap="square">
            <a:spAutoFit/>
          </a:bodyPr>
          <a:lstStyle/>
          <a:p>
            <a:pPr algn="l"/>
            <a:r>
              <a:rPr sz="1000" b="0" i="0">
                <a:solidFill>
                  <a:srgbClr val="FFFFFF"/>
                </a:solidFill>
                <a:latin typeface="Calibri"/>
              </a:rPr>
              <a:t>✓  NAT / ACL security perimeter enforced</a:t>
            </a:r>
          </a:p>
        </p:txBody>
      </p:sp>
      <p:sp>
        <p:nvSpPr>
          <p:cNvPr id="11" name="TextBox 10"/>
          <p:cNvSpPr txBox="1"/>
          <p:nvPr/>
        </p:nvSpPr>
        <p:spPr>
          <a:xfrm>
            <a:off x="320040" y="3474720"/>
            <a:ext cx="5486400" cy="475488"/>
          </a:xfrm>
          <a:prstGeom prst="rect">
            <a:avLst/>
          </a:prstGeom>
          <a:noFill/>
        </p:spPr>
        <p:txBody>
          <a:bodyPr wrap="square">
            <a:spAutoFit/>
          </a:bodyPr>
          <a:lstStyle/>
          <a:p>
            <a:pPr algn="l"/>
            <a:r>
              <a:rPr sz="1000" b="0" i="0">
                <a:solidFill>
                  <a:srgbClr val="FFFFFF"/>
                </a:solidFill>
                <a:latin typeface="Calibri"/>
              </a:rPr>
              <a:t>✓  100% packet delivery; zero drops in normal conditions</a:t>
            </a:r>
          </a:p>
        </p:txBody>
      </p:sp>
      <p:sp>
        <p:nvSpPr>
          <p:cNvPr id="12" name="TextBox 11"/>
          <p:cNvSpPr txBox="1"/>
          <p:nvPr/>
        </p:nvSpPr>
        <p:spPr>
          <a:xfrm>
            <a:off x="320040" y="3959352"/>
            <a:ext cx="5486400" cy="475488"/>
          </a:xfrm>
          <a:prstGeom prst="rect">
            <a:avLst/>
          </a:prstGeom>
          <a:noFill/>
        </p:spPr>
        <p:txBody>
          <a:bodyPr wrap="square">
            <a:spAutoFit/>
          </a:bodyPr>
          <a:lstStyle/>
          <a:p>
            <a:pPr algn="l"/>
            <a:r>
              <a:rPr sz="1000" b="0" i="0">
                <a:solidFill>
                  <a:srgbClr val="FFFFFF"/>
                </a:solidFill>
                <a:latin typeface="Calibri"/>
              </a:rPr>
              <a:t>✓  Automatic failover: Core-R1 → Core-R2 in ~38 ms</a:t>
            </a:r>
          </a:p>
        </p:txBody>
      </p:sp>
      <p:sp>
        <p:nvSpPr>
          <p:cNvPr id="13" name="TextBox 12"/>
          <p:cNvSpPr txBox="1"/>
          <p:nvPr/>
        </p:nvSpPr>
        <p:spPr>
          <a:xfrm>
            <a:off x="320040" y="4443984"/>
            <a:ext cx="5486400" cy="475488"/>
          </a:xfrm>
          <a:prstGeom prst="rect">
            <a:avLst/>
          </a:prstGeom>
          <a:noFill/>
        </p:spPr>
        <p:txBody>
          <a:bodyPr wrap="square">
            <a:spAutoFit/>
          </a:bodyPr>
          <a:lstStyle/>
          <a:p>
            <a:pPr algn="l"/>
            <a:r>
              <a:rPr sz="1000" b="0" i="0">
                <a:solidFill>
                  <a:srgbClr val="FFFFFF"/>
                </a:solidFill>
                <a:latin typeface="Calibri"/>
              </a:rPr>
              <a:t>✓  End-to-end alert latency &lt; 2 seconds sensor-to-dashboard</a:t>
            </a:r>
          </a:p>
        </p:txBody>
      </p:sp>
      <p:sp>
        <p:nvSpPr>
          <p:cNvPr id="14" name="TextBox 13"/>
          <p:cNvSpPr txBox="1"/>
          <p:nvPr/>
        </p:nvSpPr>
        <p:spPr>
          <a:xfrm>
            <a:off x="6309360" y="274320"/>
            <a:ext cx="5486400" cy="640080"/>
          </a:xfrm>
          <a:prstGeom prst="rect">
            <a:avLst/>
          </a:prstGeom>
          <a:noFill/>
        </p:spPr>
        <p:txBody>
          <a:bodyPr wrap="square">
            <a:spAutoFit/>
          </a:bodyPr>
          <a:lstStyle/>
          <a:p>
            <a:pPr algn="l"/>
            <a:r>
              <a:rPr sz="3000" b="1" i="0">
                <a:solidFill>
                  <a:srgbClr val="1A2332"/>
                </a:solidFill>
                <a:latin typeface="Calibri"/>
              </a:rPr>
              <a:t>Future Work</a:t>
            </a:r>
          </a:p>
        </p:txBody>
      </p:sp>
      <p:sp>
        <p:nvSpPr>
          <p:cNvPr id="15" name="Rectangle 14"/>
          <p:cNvSpPr/>
          <p:nvPr/>
        </p:nvSpPr>
        <p:spPr>
          <a:xfrm>
            <a:off x="6309360" y="914400"/>
            <a:ext cx="2286000" cy="25400"/>
          </a:xfrm>
          <a:prstGeom prst="rect">
            <a:avLst/>
          </a:prstGeom>
          <a:solidFill>
            <a:srgbClr val="FF6B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09360" y="1051560"/>
            <a:ext cx="5486400" cy="256032"/>
          </a:xfrm>
          <a:prstGeom prst="rect">
            <a:avLst/>
          </a:prstGeom>
          <a:noFill/>
        </p:spPr>
        <p:txBody>
          <a:bodyPr wrap="square">
            <a:spAutoFit/>
          </a:bodyPr>
          <a:lstStyle/>
          <a:p>
            <a:pPr algn="l"/>
            <a:r>
              <a:rPr sz="1050" b="1" i="0">
                <a:solidFill>
                  <a:srgbClr val="00D4FF"/>
                </a:solidFill>
                <a:latin typeface="Calibri"/>
              </a:rPr>
              <a:t>AI/ML Flood Prediction</a:t>
            </a:r>
          </a:p>
        </p:txBody>
      </p:sp>
      <p:sp>
        <p:nvSpPr>
          <p:cNvPr id="17" name="TextBox 16"/>
          <p:cNvSpPr txBox="1"/>
          <p:nvPr/>
        </p:nvSpPr>
        <p:spPr>
          <a:xfrm>
            <a:off x="6309360" y="1307592"/>
            <a:ext cx="5486400" cy="411480"/>
          </a:xfrm>
          <a:prstGeom prst="rect">
            <a:avLst/>
          </a:prstGeom>
          <a:noFill/>
        </p:spPr>
        <p:txBody>
          <a:bodyPr wrap="square">
            <a:spAutoFit/>
          </a:bodyPr>
          <a:lstStyle/>
          <a:p>
            <a:pPr algn="l"/>
            <a:r>
              <a:rPr sz="900" b="0" i="0">
                <a:solidFill>
                  <a:srgbClr val="0F1419"/>
                </a:solidFill>
                <a:latin typeface="Calibri"/>
              </a:rPr>
              <a:t>Integrate TensorFlow models for predictive analytics using historical sensor data</a:t>
            </a:r>
          </a:p>
        </p:txBody>
      </p:sp>
      <p:sp>
        <p:nvSpPr>
          <p:cNvPr id="18" name="TextBox 17"/>
          <p:cNvSpPr txBox="1"/>
          <p:nvPr/>
        </p:nvSpPr>
        <p:spPr>
          <a:xfrm>
            <a:off x="6309360" y="1828800"/>
            <a:ext cx="5486400" cy="256032"/>
          </a:xfrm>
          <a:prstGeom prst="rect">
            <a:avLst/>
          </a:prstGeom>
          <a:noFill/>
        </p:spPr>
        <p:txBody>
          <a:bodyPr wrap="square">
            <a:spAutoFit/>
          </a:bodyPr>
          <a:lstStyle/>
          <a:p>
            <a:pPr algn="l"/>
            <a:r>
              <a:rPr sz="1050" b="1" i="0">
                <a:solidFill>
                  <a:srgbClr val="00D4FF"/>
                </a:solidFill>
                <a:latin typeface="Calibri"/>
              </a:rPr>
              <a:t>5G / LoRaWAN Integration</a:t>
            </a:r>
          </a:p>
        </p:txBody>
      </p:sp>
      <p:sp>
        <p:nvSpPr>
          <p:cNvPr id="19" name="TextBox 18"/>
          <p:cNvSpPr txBox="1"/>
          <p:nvPr/>
        </p:nvSpPr>
        <p:spPr>
          <a:xfrm>
            <a:off x="6309360" y="2084832"/>
            <a:ext cx="5486400" cy="411480"/>
          </a:xfrm>
          <a:prstGeom prst="rect">
            <a:avLst/>
          </a:prstGeom>
          <a:noFill/>
        </p:spPr>
        <p:txBody>
          <a:bodyPr wrap="square">
            <a:spAutoFit/>
          </a:bodyPr>
          <a:lstStyle/>
          <a:p>
            <a:pPr algn="l"/>
            <a:r>
              <a:rPr sz="900" b="0" i="0">
                <a:solidFill>
                  <a:srgbClr val="0F1419"/>
                </a:solidFill>
                <a:latin typeface="Calibri"/>
              </a:rPr>
              <a:t>Replace Wi-Fi APs with LoRaWAN gateways for long-range, low-power sensor comms</a:t>
            </a:r>
          </a:p>
        </p:txBody>
      </p:sp>
      <p:sp>
        <p:nvSpPr>
          <p:cNvPr id="20" name="TextBox 19"/>
          <p:cNvSpPr txBox="1"/>
          <p:nvPr/>
        </p:nvSpPr>
        <p:spPr>
          <a:xfrm>
            <a:off x="6309360" y="2606040"/>
            <a:ext cx="5486400" cy="256032"/>
          </a:xfrm>
          <a:prstGeom prst="rect">
            <a:avLst/>
          </a:prstGeom>
          <a:noFill/>
        </p:spPr>
        <p:txBody>
          <a:bodyPr wrap="square">
            <a:spAutoFit/>
          </a:bodyPr>
          <a:lstStyle/>
          <a:p>
            <a:pPr algn="l"/>
            <a:r>
              <a:rPr sz="1050" b="1" i="0">
                <a:solidFill>
                  <a:srgbClr val="00D4FF"/>
                </a:solidFill>
                <a:latin typeface="Calibri"/>
              </a:rPr>
              <a:t>Solar-Powered Nodes</a:t>
            </a:r>
          </a:p>
        </p:txBody>
      </p:sp>
      <p:sp>
        <p:nvSpPr>
          <p:cNvPr id="21" name="TextBox 20"/>
          <p:cNvSpPr txBox="1"/>
          <p:nvPr/>
        </p:nvSpPr>
        <p:spPr>
          <a:xfrm>
            <a:off x="6309360" y="2862072"/>
            <a:ext cx="5486400" cy="411480"/>
          </a:xfrm>
          <a:prstGeom prst="rect">
            <a:avLst/>
          </a:prstGeom>
          <a:noFill/>
        </p:spPr>
        <p:txBody>
          <a:bodyPr wrap="square">
            <a:spAutoFit/>
          </a:bodyPr>
          <a:lstStyle/>
          <a:p>
            <a:pPr algn="l"/>
            <a:r>
              <a:rPr sz="900" b="0" i="0">
                <a:solidFill>
                  <a:srgbClr val="0F1419"/>
                </a:solidFill>
                <a:latin typeface="Calibri"/>
              </a:rPr>
              <a:t>Add UPS &amp; solar charging to ensure continuous operation during power outages</a:t>
            </a:r>
          </a:p>
        </p:txBody>
      </p:sp>
      <p:sp>
        <p:nvSpPr>
          <p:cNvPr id="22" name="TextBox 21"/>
          <p:cNvSpPr txBox="1"/>
          <p:nvPr/>
        </p:nvSpPr>
        <p:spPr>
          <a:xfrm>
            <a:off x="6309360" y="3383280"/>
            <a:ext cx="5486400" cy="256032"/>
          </a:xfrm>
          <a:prstGeom prst="rect">
            <a:avLst/>
          </a:prstGeom>
          <a:noFill/>
        </p:spPr>
        <p:txBody>
          <a:bodyPr wrap="square">
            <a:spAutoFit/>
          </a:bodyPr>
          <a:lstStyle/>
          <a:p>
            <a:pPr algn="l"/>
            <a:r>
              <a:rPr sz="1050" b="1" i="0">
                <a:solidFill>
                  <a:srgbClr val="00D4FF"/>
                </a:solidFill>
                <a:latin typeface="Calibri"/>
              </a:rPr>
              <a:t>Mobile Alert App</a:t>
            </a:r>
          </a:p>
        </p:txBody>
      </p:sp>
      <p:sp>
        <p:nvSpPr>
          <p:cNvPr id="23" name="TextBox 22"/>
          <p:cNvSpPr txBox="1"/>
          <p:nvPr/>
        </p:nvSpPr>
        <p:spPr>
          <a:xfrm>
            <a:off x="6309360" y="3639312"/>
            <a:ext cx="5486400" cy="411480"/>
          </a:xfrm>
          <a:prstGeom prst="rect">
            <a:avLst/>
          </a:prstGeom>
          <a:noFill/>
        </p:spPr>
        <p:txBody>
          <a:bodyPr wrap="square">
            <a:spAutoFit/>
          </a:bodyPr>
          <a:lstStyle/>
          <a:p>
            <a:pPr algn="l"/>
            <a:r>
              <a:rPr sz="900" b="0" i="0">
                <a:solidFill>
                  <a:srgbClr val="0F1419"/>
                </a:solidFill>
                <a:latin typeface="Calibri"/>
              </a:rPr>
              <a:t>Develop Android/iOS app with push notifications for immediate citizen alerts</a:t>
            </a:r>
          </a:p>
        </p:txBody>
      </p:sp>
      <p:sp>
        <p:nvSpPr>
          <p:cNvPr id="24" name="TextBox 23"/>
          <p:cNvSpPr txBox="1"/>
          <p:nvPr/>
        </p:nvSpPr>
        <p:spPr>
          <a:xfrm>
            <a:off x="6309360" y="4160520"/>
            <a:ext cx="5486400" cy="256032"/>
          </a:xfrm>
          <a:prstGeom prst="rect">
            <a:avLst/>
          </a:prstGeom>
          <a:noFill/>
        </p:spPr>
        <p:txBody>
          <a:bodyPr wrap="square">
            <a:spAutoFit/>
          </a:bodyPr>
          <a:lstStyle/>
          <a:p>
            <a:pPr algn="l"/>
            <a:r>
              <a:rPr sz="1050" b="1" i="0">
                <a:solidFill>
                  <a:srgbClr val="00D4FF"/>
                </a:solidFill>
                <a:latin typeface="Calibri"/>
              </a:rPr>
              <a:t>SD-WAN Upgrade</a:t>
            </a:r>
          </a:p>
        </p:txBody>
      </p:sp>
      <p:sp>
        <p:nvSpPr>
          <p:cNvPr id="25" name="TextBox 24"/>
          <p:cNvSpPr txBox="1"/>
          <p:nvPr/>
        </p:nvSpPr>
        <p:spPr>
          <a:xfrm>
            <a:off x="6309360" y="4416552"/>
            <a:ext cx="5486400" cy="411480"/>
          </a:xfrm>
          <a:prstGeom prst="rect">
            <a:avLst/>
          </a:prstGeom>
          <a:noFill/>
        </p:spPr>
        <p:txBody>
          <a:bodyPr wrap="square">
            <a:spAutoFit/>
          </a:bodyPr>
          <a:lstStyle/>
          <a:p>
            <a:pPr algn="l"/>
            <a:r>
              <a:rPr sz="900" b="0" i="0">
                <a:solidFill>
                  <a:srgbClr val="0F1419"/>
                </a:solidFill>
                <a:latin typeface="Calibri"/>
              </a:rPr>
              <a:t>Replace static WAN with SD-WAN for intelligent, policy-based traffic steering</a:t>
            </a:r>
          </a:p>
        </p:txBody>
      </p:sp>
      <p:sp>
        <p:nvSpPr>
          <p:cNvPr id="26" name="TextBox 25"/>
          <p:cNvSpPr txBox="1"/>
          <p:nvPr/>
        </p:nvSpPr>
        <p:spPr>
          <a:xfrm>
            <a:off x="6309360" y="4937760"/>
            <a:ext cx="5486400" cy="256032"/>
          </a:xfrm>
          <a:prstGeom prst="rect">
            <a:avLst/>
          </a:prstGeom>
          <a:noFill/>
        </p:spPr>
        <p:txBody>
          <a:bodyPr wrap="square">
            <a:spAutoFit/>
          </a:bodyPr>
          <a:lstStyle/>
          <a:p>
            <a:pPr algn="l"/>
            <a:r>
              <a:rPr sz="1050" b="1" i="0">
                <a:solidFill>
                  <a:srgbClr val="00D4FF"/>
                </a:solidFill>
                <a:latin typeface="Calibri"/>
              </a:rPr>
              <a:t>Government API Integration</a:t>
            </a:r>
          </a:p>
        </p:txBody>
      </p:sp>
      <p:sp>
        <p:nvSpPr>
          <p:cNvPr id="27" name="TextBox 26"/>
          <p:cNvSpPr txBox="1"/>
          <p:nvPr/>
        </p:nvSpPr>
        <p:spPr>
          <a:xfrm>
            <a:off x="6309360" y="5193792"/>
            <a:ext cx="5486400" cy="411480"/>
          </a:xfrm>
          <a:prstGeom prst="rect">
            <a:avLst/>
          </a:prstGeom>
          <a:noFill/>
        </p:spPr>
        <p:txBody>
          <a:bodyPr wrap="square">
            <a:spAutoFit/>
          </a:bodyPr>
          <a:lstStyle/>
          <a:p>
            <a:pPr algn="l"/>
            <a:r>
              <a:rPr sz="900" b="0" i="0">
                <a:solidFill>
                  <a:srgbClr val="0F1419"/>
                </a:solidFill>
                <a:latin typeface="Calibri"/>
              </a:rPr>
              <a:t>Connect to Bangladesh Meteorological Dept and BWDB for enriched data fusion</a:t>
            </a:r>
          </a:p>
        </p:txBody>
      </p:sp>
      <p:sp>
        <p:nvSpPr>
          <p:cNvPr id="28" name="Rectangle 27"/>
          <p:cNvSpPr/>
          <p:nvPr/>
        </p:nvSpPr>
        <p:spPr>
          <a:xfrm>
            <a:off x="0" y="6446520"/>
            <a:ext cx="12188952" cy="411480"/>
          </a:xfrm>
          <a:prstGeom prst="rect">
            <a:avLst/>
          </a:prstGeom>
          <a:solidFill>
            <a:srgbClr val="00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74320" y="6473952"/>
            <a:ext cx="11640312" cy="365760"/>
          </a:xfrm>
          <a:prstGeom prst="rect">
            <a:avLst/>
          </a:prstGeom>
          <a:noFill/>
        </p:spPr>
        <p:txBody>
          <a:bodyPr wrap="square">
            <a:spAutoFit/>
          </a:bodyPr>
          <a:lstStyle/>
          <a:p>
            <a:pPr algn="ctr"/>
            <a:r>
              <a:rPr sz="900" b="1" i="0">
                <a:solidFill>
                  <a:srgbClr val="1A2332"/>
                </a:solidFill>
                <a:latin typeface="Calibri"/>
              </a:rPr>
              <a:t>Premier University, Chittagong  |  Team HydroNet Trio  |  6th Semester Networking Project  |  Cisco Packet Tracer 8.2.2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