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960120"/>
            <a:ext cx="8229600" cy="777240"/>
          </a:xfrm>
          <a:prstGeom prst="rect">
            <a:avLst/>
          </a:prstGeom>
          <a:solidFill>
            <a:srgbClr val="00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CHITTAGONG HYDROLOGICAL RESILIENCE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1">
                <a:solidFill>
                  <a:srgbClr val="00B4D8"/>
                </a:solidFill>
                <a:latin typeface="Calibri"/>
              </a:rPr>
              <a:t>HydroNet: Cisco-Powered Real-Time Flood Monitoring &amp; Early Warning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Abu Md. Selim  |  Arifur Rahman  |  Sadab Abdullah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CCCCCC"/>
                </a:solidFill>
              </a:rPr>
              <a:t>Premier University, Chittagong  •  6th Semester Network Architecture Project  •  March 2025</a:t>
            </a:r>
          </a:p>
        </p:txBody>
      </p:sp>
      <p:sp>
        <p:nvSpPr>
          <p:cNvPr id="8" name="Oval 7"/>
          <p:cNvSpPr/>
          <p:nvPr/>
        </p:nvSpPr>
        <p:spPr>
          <a:xfrm>
            <a:off x="365760" y="4503420"/>
            <a:ext cx="256032" cy="25603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4503420"/>
            <a:ext cx="256032" cy="256032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33856" y="4503420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17904" y="4503420"/>
            <a:ext cx="256032" cy="256032"/>
          </a:xfrm>
          <a:prstGeom prst="ellipse">
            <a:avLst/>
          </a:prstGeom>
          <a:solidFill>
            <a:srgbClr val="2EA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" y="48234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808080"/>
                </a:solidFill>
              </a:rPr>
              <a:t>HydroNet - Chittagong Hydrological Resilience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8234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08080"/>
                </a:solidFill>
              </a:rPr>
              <a:t>1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3A6B"/>
                </a:solidFill>
                <a:latin typeface="Calibri"/>
              </a:rPr>
              <a:t>Why HydroNet? The Flood Crisis in Chittagong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8412480" cy="411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A3A6B"/>
                </a:solidFill>
                <a:latin typeface="Calibri"/>
              </a:rPr>
              <a:t>THE PROBLEM:</a:t>
            </a:r>
          </a:p>
          <a:p>
            <a:r>
              <a:rPr sz="900" b="0">
                <a:solidFill>
                  <a:srgbClr val="2D3D4F"/>
                </a:solidFill>
                <a:latin typeface="Calibri"/>
              </a:rPr>
              <a:t>Chittagong (pop. 8M+) sits at the confluence of the Karnaphuli River and the Bay of Bengal.</a:t>
            </a:r>
          </a:p>
          <a:p>
            <a:r>
              <a:rPr sz="900" b="0">
                <a:solidFill>
                  <a:srgbClr val="2D3D4F"/>
                </a:solidFill>
                <a:latin typeface="Calibri"/>
              </a:rPr>
              <a:t>Annual monsoon flooding has devastated the region repeatedly:</a:t>
            </a:r>
          </a:p>
          <a:p>
            <a:r>
              <a:rPr sz="900" b="0">
                <a:solidFill>
                  <a:srgbClr val="2D3D4F"/>
                </a:solidFill>
                <a:latin typeface="Calibri"/>
              </a:rPr>
              <a:t>• 2023 floods: 51+ lives lost, 1M+ people displaced</a:t>
            </a:r>
          </a:p>
          <a:p>
            <a:r>
              <a:rPr sz="900" b="0">
                <a:solidFill>
                  <a:srgbClr val="2D3D4F"/>
                </a:solidFill>
                <a:latin typeface="Calibri"/>
              </a:rPr>
              <a:t>• 2022: Major tidal surge damaged Chittagong Port, economic loss &gt;$200M</a:t>
            </a:r>
          </a:p>
          <a:p>
            <a:r>
              <a:rPr sz="900" b="0">
                <a:solidFill>
                  <a:srgbClr val="2D3D4F"/>
                </a:solidFill>
                <a:latin typeface="Calibri"/>
              </a:rPr>
              <a:t>• Average annual flood damage: $500M across infrastructure</a:t>
            </a:r>
          </a:p>
          <a:p>
            <a:r>
              <a:rPr sz="900" b="0">
                <a:solidFill>
                  <a:srgbClr val="2D3D4F"/>
                </a:solidFill>
                <a:latin typeface="Calibri"/>
              </a:rPr>
              <a:t>• Current early warning: Manual observation, 30–60 min lead time only</a:t>
            </a:r>
          </a:p>
          <a:p>
            <a:r>
              <a:rPr sz="900" b="0">
                <a:solidFill>
                  <a:srgbClr val="2D3D4F"/>
                </a:solidFill>
                <a:latin typeface="Calibri"/>
              </a:rPr>
              <a:t>• Critical gap: No automated, real-time sensor network exists</a:t>
            </a:r>
          </a:p>
          <a:p>
            <a:r>
              <a:rPr sz="900" b="0">
                <a:solidFill>
                  <a:srgbClr val="2D3D4F"/>
                </a:solidFill>
                <a:latin typeface="Calibri"/>
              </a:rPr>
              <a:t/>
            </a:r>
          </a:p>
          <a:p>
            <a:r>
              <a:rPr sz="900" b="1">
                <a:solidFill>
                  <a:srgbClr val="1A3A6B"/>
                </a:solidFill>
                <a:latin typeface="Calibri"/>
              </a:rPr>
              <a:t>THE CONSEQUENCE:</a:t>
            </a:r>
          </a:p>
          <a:p>
            <a:r>
              <a:rPr sz="900" b="0">
                <a:solidFill>
                  <a:srgbClr val="2D3D4F"/>
                </a:solidFill>
                <a:latin typeface="Calibri"/>
              </a:rPr>
              <a:t>• Delayed evacuation = preventable casualties</a:t>
            </a:r>
          </a:p>
          <a:p>
            <a:r>
              <a:rPr sz="900" b="0">
                <a:solidFill>
                  <a:srgbClr val="2D3D4F"/>
                </a:solidFill>
                <a:latin typeface="Calibri"/>
              </a:rPr>
              <a:t>• First responders lack real-time situational awareness</a:t>
            </a:r>
          </a:p>
          <a:p>
            <a:r>
              <a:rPr sz="900" b="0">
                <a:solidFill>
                  <a:srgbClr val="2D3D4F"/>
                </a:solidFill>
                <a:latin typeface="Calibri"/>
              </a:rPr>
              <a:t>• Infrastructure damage compounds without advance warning</a:t>
            </a:r>
          </a:p>
          <a:p>
            <a:r>
              <a:rPr sz="900" b="0">
                <a:solidFill>
                  <a:srgbClr val="2D3D4F"/>
                </a:solidFill>
                <a:latin typeface="Calibri"/>
              </a:rPr>
              <a:t>• Vulnerable populations (coastal poor, river communities) most at risk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960120"/>
            <a:ext cx="3566160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48234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808080"/>
                </a:solidFill>
              </a:rPr>
              <a:t>HydroNet - Chittagong Hydrological Resilience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234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08080"/>
                </a:solidFill>
              </a:rPr>
              <a:t>2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3A6B"/>
                </a:solidFill>
                <a:latin typeface="Calibri"/>
              </a:rPr>
              <a:t>HydroNet: System Architecture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41248"/>
            <a:ext cx="8412480" cy="411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14400"/>
            <a:ext cx="8869680" cy="30632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74320" y="4041648"/>
            <a:ext cx="2788920" cy="749808"/>
          </a:xfrm>
          <a:prstGeom prst="rect">
            <a:avLst/>
          </a:prstGeom>
          <a:solidFill>
            <a:srgbClr val="FFF0E0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4087368"/>
            <a:ext cx="2606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2D3D4F"/>
                </a:solidFill>
                <a:latin typeface="Calibri"/>
              </a:rPr>
              <a:t>20+ IoT Sensors | 4 Geographic Zones | Real-time 30s updates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4041648"/>
            <a:ext cx="2788920" cy="749808"/>
          </a:xfrm>
          <a:prstGeom prst="rect">
            <a:avLst/>
          </a:prstGeom>
          <a:solidFill>
            <a:srgbClr val="E0F7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4087368"/>
            <a:ext cx="2606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2D3D4F"/>
                </a:solidFill>
                <a:latin typeface="Calibri"/>
              </a:rPr>
              <a:t>OSPF Dynamic Routing | 12 VLANs | 5 Core Servers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4041648"/>
            <a:ext cx="2788920" cy="749808"/>
          </a:xfrm>
          <a:prstGeom prst="rect">
            <a:avLst/>
          </a:prstGeom>
          <a:solidFill>
            <a:srgbClr val="F3EC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4087368"/>
            <a:ext cx="2606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2D3D4F"/>
                </a:solidFill>
                <a:latin typeface="Calibri"/>
              </a:rPr>
              <a:t>NAT + ACL Security | DHCP/DNS/Web/Email | Early Warning Emails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48234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808080"/>
                </a:solidFill>
              </a:rPr>
              <a:t>HydroNet - Chittagong Hydrological Resilience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48234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08080"/>
                </a:solidFill>
              </a:rPr>
              <a:t>3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3A6B"/>
                </a:solidFill>
                <a:latin typeface="Calibri"/>
              </a:rPr>
              <a:t>Core Network Infrastructure &amp; IP Addressing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8412480" cy="411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4400"/>
            <a:ext cx="4754880" cy="3611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66360" y="960120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B4D8"/>
                </a:solidFill>
                <a:latin typeface="Calibri"/>
              </a:rPr>
              <a:t>CORE DEVICES:</a:t>
            </a:r>
          </a:p>
          <a:p>
            <a:r>
              <a:rPr sz="850" b="0">
                <a:solidFill>
                  <a:srgbClr val="2D3D4F"/>
                </a:solidFill>
                <a:latin typeface="Calibri"/>
              </a:rPr>
              <a:t>• Core-Router-1: Cisco 3945 | 10.0.0.1/8 | OSPF DR (priority 255)</a:t>
            </a:r>
          </a:p>
          <a:p>
            <a:r>
              <a:rPr sz="850" b="0">
                <a:solidFill>
                  <a:srgbClr val="2D3D4F"/>
                </a:solidFill>
                <a:latin typeface="Calibri"/>
              </a:rPr>
              <a:t>• Core-Router-2: Cisco 3945 | 10.0.0.2/8 | OSPF BDR</a:t>
            </a:r>
          </a:p>
          <a:p>
            <a:r>
              <a:rPr sz="850" b="0">
                <a:solidFill>
                  <a:srgbClr val="2D3D4F"/>
                </a:solidFill>
                <a:latin typeface="Calibri"/>
              </a:rPr>
              <a:t>• Core-Switch-1: Catalyst 3750-X | 10.0.0.10 | Layer-3 capable</a:t>
            </a:r>
          </a:p>
          <a:p>
            <a:r>
              <a:rPr sz="850" b="0">
                <a:solidFill>
                  <a:srgbClr val="2D3D4F"/>
                </a:solidFill>
                <a:latin typeface="Calibri"/>
              </a:rPr>
              <a:t>• Core-Switch-2: Catalyst 3750-X | 10.0.0.11 | Redundant</a:t>
            </a:r>
          </a:p>
          <a:p>
            <a:r>
              <a:rPr sz="850" b="0">
                <a:solidFill>
                  <a:srgbClr val="2D3D4F"/>
                </a:solidFill>
                <a:latin typeface="Calibri"/>
              </a:rPr>
              <a:t/>
            </a:r>
          </a:p>
          <a:p>
            <a:r>
              <a:rPr sz="850" b="1">
                <a:solidFill>
                  <a:srgbClr val="00B4D8"/>
                </a:solidFill>
                <a:latin typeface="Calibri"/>
              </a:rPr>
              <a:t>SERVER FARM (10.0.100.0/24):</a:t>
            </a:r>
          </a:p>
          <a:p>
            <a:r>
              <a:rPr sz="850" b="0">
                <a:solidFill>
                  <a:srgbClr val="2D3D4F"/>
                </a:solidFill>
                <a:latin typeface="Calibri"/>
              </a:rPr>
              <a:t>• DHCP Server: 10.0.100.1 | Cisco Router | 4 zone pools</a:t>
            </a:r>
          </a:p>
          <a:p>
            <a:r>
              <a:rPr sz="850" b="0">
                <a:solidFill>
                  <a:srgbClr val="2D3D4F"/>
                </a:solidFill>
                <a:latin typeface="Calibri"/>
              </a:rPr>
              <a:t>• DNS Server: 10.0.100.2 | BIND | hydronet.local</a:t>
            </a:r>
          </a:p>
          <a:p>
            <a:r>
              <a:rPr sz="850" b="0">
                <a:solidFill>
                  <a:srgbClr val="2D3D4F"/>
                </a:solidFill>
                <a:latin typeface="Calibri"/>
              </a:rPr>
              <a:t>• Web Server: 10.0.100.3 | Apache | monitor.hydronet.local</a:t>
            </a:r>
          </a:p>
          <a:p>
            <a:r>
              <a:rPr sz="850" b="0">
                <a:solidFill>
                  <a:srgbClr val="2D3D4F"/>
                </a:solidFill>
                <a:latin typeface="Calibri"/>
              </a:rPr>
              <a:t>• Email Server: 10.0.100.4 | SMTP:25 / POP3:110</a:t>
            </a:r>
          </a:p>
          <a:p>
            <a:r>
              <a:rPr sz="850" b="0">
                <a:solidFill>
                  <a:srgbClr val="2D3D4F"/>
                </a:solidFill>
                <a:latin typeface="Calibri"/>
              </a:rPr>
              <a:t>• MQTT Broker: 10.0.100.1 | Port 1883 | QoS-2</a:t>
            </a:r>
          </a:p>
          <a:p>
            <a:r>
              <a:rPr sz="850" b="0">
                <a:solidFill>
                  <a:srgbClr val="2D3D4F"/>
                </a:solidFill>
                <a:latin typeface="Calibri"/>
              </a:rPr>
              <a:t/>
            </a:r>
          </a:p>
          <a:p>
            <a:r>
              <a:rPr sz="850" b="1">
                <a:solidFill>
                  <a:srgbClr val="00B4D8"/>
                </a:solidFill>
                <a:latin typeface="Calibri"/>
              </a:rPr>
              <a:t>CONNECTIVITY:</a:t>
            </a:r>
          </a:p>
          <a:p>
            <a:r>
              <a:rPr sz="850" b="0">
                <a:solidFill>
                  <a:srgbClr val="2D3D4F"/>
                </a:solidFill>
                <a:latin typeface="Calibri"/>
              </a:rPr>
              <a:t>• ISP Link: 172.16.0.0/30 | 100 Mbps</a:t>
            </a:r>
          </a:p>
          <a:p>
            <a:r>
              <a:rPr sz="850" b="0">
                <a:solidFill>
                  <a:srgbClr val="2D3D4F"/>
                </a:solidFill>
                <a:latin typeface="Calibri"/>
              </a:rPr>
              <a:t>• Core Backbone: Gigabit Ethernet | Cost=1</a:t>
            </a:r>
          </a:p>
          <a:p>
            <a:r>
              <a:rPr sz="850" b="0">
                <a:solidFill>
                  <a:srgbClr val="2D3D4F"/>
                </a:solidFill>
                <a:latin typeface="Calibri"/>
              </a:rPr>
              <a:t>• Zone Uplinks: FastEthernet | Cost=10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234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808080"/>
                </a:solidFill>
              </a:rPr>
              <a:t>HydroNet - Chittagong Hydrological Resilience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234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08080"/>
                </a:solidFill>
              </a:rPr>
              <a:t>4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3A6B"/>
                </a:solidFill>
                <a:latin typeface="Calibri"/>
              </a:rPr>
              <a:t>4-Zone Network Topology &amp; Wireless 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49808"/>
            <a:ext cx="8412480" cy="411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822960"/>
            <a:ext cx="8869680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8234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808080"/>
                </a:solidFill>
              </a:rPr>
              <a:t>HydroNet - Chittagong Hydrological Resilience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8234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08080"/>
                </a:solidFill>
              </a:rPr>
              <a:t>5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3A6B"/>
                </a:solidFill>
                <a:latin typeface="Calibri"/>
              </a:rPr>
              <a:t>VLAN Segmentation: 12-VLAN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04672"/>
            <a:ext cx="8412480" cy="411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1737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2743200"/>
            <a:ext cx="42062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1A3A6B"/>
                </a:solidFill>
              </a:rPr>
              <a:t>ID   Name          Subnet           Purpose</a:t>
            </a:r>
          </a:p>
          <a:p>
            <a:r>
              <a:rPr sz="750">
                <a:solidFill>
                  <a:srgbClr val="2D3D4F"/>
                </a:solidFill>
                <a:latin typeface="Courier New"/>
              </a:rPr>
              <a:t>10   SENSORS-Z1    10.10.10.0/24    Zone-1 IoT Sensors</a:t>
            </a:r>
          </a:p>
          <a:p>
            <a:r>
              <a:rPr sz="750">
                <a:solidFill>
                  <a:srgbClr val="2D3D4F"/>
                </a:solidFill>
                <a:latin typeface="Courier New"/>
              </a:rPr>
              <a:t>20   SENSORS-Z2    10.10.20.0/24    Zone-2 IoT Sensors</a:t>
            </a:r>
          </a:p>
          <a:p>
            <a:r>
              <a:rPr sz="750">
                <a:solidFill>
                  <a:srgbClr val="2D3D4F"/>
                </a:solidFill>
                <a:latin typeface="Courier New"/>
              </a:rPr>
              <a:t>30   SENSORS-Z3    10.10.30.0/24    Zone-3 IoT Sensors</a:t>
            </a:r>
          </a:p>
          <a:p>
            <a:r>
              <a:rPr sz="750">
                <a:solidFill>
                  <a:srgbClr val="2D3D4F"/>
                </a:solidFill>
                <a:latin typeface="Courier New"/>
              </a:rPr>
              <a:t>40   SENSORS-Z4    10.10.40.0/24    Zone-4 IoT Sensors</a:t>
            </a:r>
          </a:p>
          <a:p>
            <a:r>
              <a:rPr sz="750">
                <a:solidFill>
                  <a:srgbClr val="2D3D4F"/>
                </a:solidFill>
                <a:latin typeface="Courier New"/>
              </a:rPr>
              <a:t>50   MANAGEMENT    10.0.50.0/24     Network Mgmt</a:t>
            </a:r>
          </a:p>
          <a:p>
            <a:r>
              <a:rPr sz="750">
                <a:solidFill>
                  <a:srgbClr val="2D3D4F"/>
                </a:solidFill>
                <a:latin typeface="Courier New"/>
              </a:rPr>
              <a:t>60   SERVERS       10.0.100.0/24    Server Farm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2743200"/>
            <a:ext cx="42062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1A3A6B"/>
                </a:solidFill>
              </a:rPr>
              <a:t>ID   Name          Subnet           Purpose</a:t>
            </a:r>
          </a:p>
          <a:p>
            <a:r>
              <a:rPr sz="750">
                <a:solidFill>
                  <a:srgbClr val="2D3D4F"/>
                </a:solidFill>
                <a:latin typeface="Courier New"/>
              </a:rPr>
              <a:t>70   WIRELESS-Z1   10.20.10.0/24    Zone-1 Wireless</a:t>
            </a:r>
          </a:p>
          <a:p>
            <a:r>
              <a:rPr sz="750">
                <a:solidFill>
                  <a:srgbClr val="2D3D4F"/>
                </a:solidFill>
                <a:latin typeface="Courier New"/>
              </a:rPr>
              <a:t>80   WIRELESS-Z2   10.20.20.0/24    Zone-2 Wireless</a:t>
            </a:r>
          </a:p>
          <a:p>
            <a:r>
              <a:rPr sz="750">
                <a:solidFill>
                  <a:srgbClr val="2D3D4F"/>
                </a:solidFill>
                <a:latin typeface="Courier New"/>
              </a:rPr>
              <a:t>90   WIRELESS-Z3   10.20.30.0/24    Zone-3 Wireless</a:t>
            </a:r>
          </a:p>
          <a:p>
            <a:r>
              <a:rPr sz="750">
                <a:solidFill>
                  <a:srgbClr val="2D3D4F"/>
                </a:solidFill>
                <a:latin typeface="Courier New"/>
              </a:rPr>
              <a:t>100  WIRELESS-Z4   10.20.40.0/24    Zone-4 Wireless</a:t>
            </a:r>
          </a:p>
          <a:p>
            <a:r>
              <a:rPr sz="750">
                <a:solidFill>
                  <a:srgbClr val="2D3D4F"/>
                </a:solidFill>
                <a:latin typeface="Courier New"/>
              </a:rPr>
              <a:t>110  CONTROL       10.0.110.0/24    Control Plane</a:t>
            </a:r>
          </a:p>
          <a:p>
            <a:r>
              <a:rPr sz="750">
                <a:solidFill>
                  <a:srgbClr val="2D3D4F"/>
                </a:solidFill>
                <a:latin typeface="Courier New"/>
              </a:rPr>
              <a:t>1    NATIVE        N/A              802.1Q Native VLAN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736592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1A3A6B"/>
                </a:solidFill>
                <a:latin typeface="Calibri"/>
              </a:rPr>
              <a:t>802.1Q trunking on all uplinks  |  Inter-VLAN routing via ACL  |  VLAN 100 reachable from all zones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48234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808080"/>
                </a:solidFill>
              </a:rPr>
              <a:t>HydroNet - Chittagong Hydrological Resilience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48234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08080"/>
                </a:solidFill>
              </a:rPr>
              <a:t>6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3A6B"/>
                </a:solidFill>
                <a:latin typeface="Calibri"/>
              </a:rPr>
              <a:t>Centralized Services: DHCP, DNS, Web &amp; Email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04672"/>
            <a:ext cx="8412480" cy="411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2103120" cy="3474720"/>
          </a:xfrm>
          <a:prstGeom prst="rect">
            <a:avLst/>
          </a:prstGeom>
          <a:solidFill>
            <a:srgbClr val="FFF0E0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2103120" cy="38404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94183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DHCP 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316736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F8C00"/>
                </a:solidFill>
                <a:latin typeface="Courier New"/>
              </a:rPr>
              <a:t>10.0.100.1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00200"/>
            <a:ext cx="1965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2D3D4F"/>
                </a:solidFill>
                <a:latin typeface="Calibri"/>
              </a:rPr>
              <a:t>• Cisco Router-based DHCP</a:t>
            </a:r>
          </a:p>
          <a:p>
            <a:r>
              <a:rPr sz="800">
                <a:solidFill>
                  <a:srgbClr val="2D3D4F"/>
                </a:solidFill>
                <a:latin typeface="Calibri"/>
              </a:rPr>
              <a:t>• Zone-1 Pool: 10.10.10.10–254</a:t>
            </a:r>
          </a:p>
          <a:p>
            <a:r>
              <a:rPr sz="800">
                <a:solidFill>
                  <a:srgbClr val="2D3D4F"/>
                </a:solidFill>
                <a:latin typeface="Calibri"/>
              </a:rPr>
              <a:t>• Zone-2 Pool: 10.10.20.10–254</a:t>
            </a:r>
          </a:p>
          <a:p>
            <a:r>
              <a:rPr sz="800">
                <a:solidFill>
                  <a:srgbClr val="2D3D4F"/>
                </a:solidFill>
                <a:latin typeface="Calibri"/>
              </a:rPr>
              <a:t>• Zone-3 Pool: 10.10.30.10–254</a:t>
            </a:r>
          </a:p>
          <a:p>
            <a:r>
              <a:rPr sz="800">
                <a:solidFill>
                  <a:srgbClr val="2D3D4F"/>
                </a:solidFill>
                <a:latin typeface="Calibri"/>
              </a:rPr>
              <a:t>• Zone-4 Pool: 10.10.40.10–254</a:t>
            </a:r>
          </a:p>
          <a:p>
            <a:r>
              <a:rPr sz="800">
                <a:solidFill>
                  <a:srgbClr val="2D3D4F"/>
                </a:solidFill>
                <a:latin typeface="Calibri"/>
              </a:rPr>
              <a:t>• Lease time: 24 hours</a:t>
            </a:r>
          </a:p>
          <a:p>
            <a:r>
              <a:rPr sz="800">
                <a:solidFill>
                  <a:srgbClr val="2D3D4F"/>
                </a:solidFill>
                <a:latin typeface="Calibri"/>
              </a:rPr>
              <a:t>• DNS: 10.0.100.2 pushed</a:t>
            </a:r>
          </a:p>
          <a:p>
            <a:r>
              <a:rPr sz="800">
                <a:solidFill>
                  <a:srgbClr val="2D3D4F"/>
                </a:solidFill>
                <a:latin typeface="Calibri"/>
              </a:rPr>
              <a:t>• Default GW per zone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2450591" y="914400"/>
            <a:ext cx="2103120" cy="3474720"/>
          </a:xfrm>
          <a:prstGeom prst="rect">
            <a:avLst/>
          </a:prstGeom>
          <a:solidFill>
            <a:srgbClr val="E0F7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50591" y="914400"/>
            <a:ext cx="210312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96311" y="94183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DNS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96311" y="1316736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00B4D8"/>
                </a:solidFill>
                <a:latin typeface="Courier New"/>
              </a:rPr>
              <a:t>10.0.100.2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2031" y="1600200"/>
            <a:ext cx="1965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2D3D4F"/>
                </a:solidFill>
                <a:latin typeface="Calibri"/>
              </a:rPr>
              <a:t>• BIND 9 – hydronet.local</a:t>
            </a:r>
          </a:p>
          <a:p>
            <a:r>
              <a:rPr sz="800">
                <a:solidFill>
                  <a:srgbClr val="2D3D4F"/>
                </a:solidFill>
                <a:latin typeface="Calibri"/>
              </a:rPr>
              <a:t>• A: monitor → 10.0.100.3</a:t>
            </a:r>
          </a:p>
          <a:p>
            <a:r>
              <a:rPr sz="800">
                <a:solidFill>
                  <a:srgbClr val="2D3D4F"/>
                </a:solidFill>
                <a:latin typeface="Calibri"/>
              </a:rPr>
              <a:t>• A: mail → 10.0.100.4</a:t>
            </a:r>
          </a:p>
          <a:p>
            <a:r>
              <a:rPr sz="800">
                <a:solidFill>
                  <a:srgbClr val="2D3D4F"/>
                </a:solidFill>
                <a:latin typeface="Calibri"/>
              </a:rPr>
              <a:t>• A: dhcp → 10.0.100.1</a:t>
            </a:r>
          </a:p>
          <a:p>
            <a:r>
              <a:rPr sz="800">
                <a:solidFill>
                  <a:srgbClr val="2D3D4F"/>
                </a:solidFill>
                <a:latin typeface="Calibri"/>
              </a:rPr>
              <a:t>• A: syslog → 10.0.100.5</a:t>
            </a:r>
          </a:p>
          <a:p>
            <a:r>
              <a:rPr sz="800">
                <a:solidFill>
                  <a:srgbClr val="2D3D4F"/>
                </a:solidFill>
                <a:latin typeface="Calibri"/>
              </a:rPr>
              <a:t>• Forwarder: 8.8.8.8</a:t>
            </a:r>
          </a:p>
          <a:p>
            <a:r>
              <a:rPr sz="800">
                <a:solidFill>
                  <a:srgbClr val="2D3D4F"/>
                </a:solidFill>
                <a:latin typeface="Calibri"/>
              </a:rPr>
              <a:t>• Zone: hydronet.local</a:t>
            </a:r>
          </a:p>
          <a:p>
            <a:r>
              <a:rPr sz="800">
                <a:solidFill>
                  <a:srgbClr val="2D3D4F"/>
                </a:solidFill>
                <a:latin typeface="Calibri"/>
              </a:rPr>
              <a:t>• Reverse DNS configured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26864" y="914400"/>
            <a:ext cx="2103120" cy="3474720"/>
          </a:xfrm>
          <a:prstGeom prst="rect">
            <a:avLst/>
          </a:prstGeom>
          <a:solidFill>
            <a:srgbClr val="F3EC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26864" y="914400"/>
            <a:ext cx="210312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72584" y="94183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Web 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2584" y="1316736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7C3AED"/>
                </a:solidFill>
                <a:latin typeface="Courier New"/>
              </a:rPr>
              <a:t>10.0.100.3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18304" y="1600200"/>
            <a:ext cx="1965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2D3D4F"/>
                </a:solidFill>
                <a:latin typeface="Calibri"/>
              </a:rPr>
              <a:t>• Apache HTTP 2.4</a:t>
            </a:r>
          </a:p>
          <a:p>
            <a:r>
              <a:rPr sz="800">
                <a:solidFill>
                  <a:srgbClr val="2D3D4F"/>
                </a:solidFill>
                <a:latin typeface="Calibri"/>
              </a:rPr>
              <a:t>• URL: monitor.hydronet.local</a:t>
            </a:r>
          </a:p>
          <a:p>
            <a:r>
              <a:rPr sz="800">
                <a:solidFill>
                  <a:srgbClr val="2D3D4F"/>
                </a:solidFill>
                <a:latin typeface="Calibri"/>
              </a:rPr>
              <a:t>• Dashboard: real-time data</a:t>
            </a:r>
          </a:p>
          <a:p>
            <a:r>
              <a:rPr sz="800">
                <a:solidFill>
                  <a:srgbClr val="2D3D4F"/>
                </a:solidFill>
                <a:latin typeface="Calibri"/>
              </a:rPr>
              <a:t>• Port 80 (HTTP)</a:t>
            </a:r>
          </a:p>
          <a:p>
            <a:r>
              <a:rPr sz="800">
                <a:solidFill>
                  <a:srgbClr val="2D3D4F"/>
                </a:solidFill>
                <a:latin typeface="Calibri"/>
              </a:rPr>
              <a:t>• Sensor data via MQTT</a:t>
            </a:r>
          </a:p>
          <a:p>
            <a:r>
              <a:rPr sz="800">
                <a:solidFill>
                  <a:srgbClr val="2D3D4F"/>
                </a:solidFill>
                <a:latin typeface="Calibri"/>
              </a:rPr>
              <a:t>• Charts: water level &amp; flow</a:t>
            </a:r>
          </a:p>
          <a:p>
            <a:r>
              <a:rPr sz="800">
                <a:solidFill>
                  <a:srgbClr val="2D3D4F"/>
                </a:solidFill>
                <a:latin typeface="Calibri"/>
              </a:rPr>
              <a:t>• Alert banner on threshold</a:t>
            </a:r>
          </a:p>
          <a:p>
            <a:r>
              <a:rPr sz="800">
                <a:solidFill>
                  <a:srgbClr val="2D3D4F"/>
                </a:solidFill>
                <a:latin typeface="Calibri"/>
              </a:rPr>
              <a:t>• Accessible all VLANs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03136" y="914400"/>
            <a:ext cx="2103120" cy="3474720"/>
          </a:xfrm>
          <a:prstGeom prst="rect">
            <a:avLst/>
          </a:prstGeom>
          <a:solidFill>
            <a:srgbClr val="E6FFE6"/>
          </a:solidFill>
          <a:ln w="19050">
            <a:solidFill>
              <a:srgbClr val="2EA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03136" y="914400"/>
            <a:ext cx="2103120" cy="384048"/>
          </a:xfrm>
          <a:prstGeom prst="rect">
            <a:avLst/>
          </a:prstGeom>
          <a:solidFill>
            <a:srgbClr val="2EA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48856" y="94183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Email Server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48856" y="1316736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2EA04E"/>
                </a:solidFill>
                <a:latin typeface="Courier New"/>
              </a:rPr>
              <a:t>10.0.100.4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600200"/>
            <a:ext cx="1965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2D3D4F"/>
                </a:solidFill>
                <a:latin typeface="Calibri"/>
              </a:rPr>
              <a:t>• Postfix SMTP – Port 25</a:t>
            </a:r>
          </a:p>
          <a:p>
            <a:r>
              <a:rPr sz="800">
                <a:solidFill>
                  <a:srgbClr val="2D3D4F"/>
                </a:solidFill>
                <a:latin typeface="Calibri"/>
              </a:rPr>
              <a:t>• Dovecot POP3 – Port 110</a:t>
            </a:r>
          </a:p>
          <a:p>
            <a:r>
              <a:rPr sz="800">
                <a:solidFill>
                  <a:srgbClr val="2D3D4F"/>
                </a:solidFill>
                <a:latin typeface="Calibri"/>
              </a:rPr>
              <a:t>• Domain: hydronet.local</a:t>
            </a:r>
          </a:p>
          <a:p>
            <a:r>
              <a:rPr sz="800">
                <a:solidFill>
                  <a:srgbClr val="2D3D4F"/>
                </a:solidFill>
                <a:latin typeface="Calibri"/>
              </a:rPr>
              <a:t>• Alerts → admin@hydronet</a:t>
            </a:r>
          </a:p>
          <a:p>
            <a:r>
              <a:rPr sz="800">
                <a:solidFill>
                  <a:srgbClr val="2D3D4F"/>
                </a:solidFill>
                <a:latin typeface="Calibri"/>
              </a:rPr>
              <a:t>• Flood threshold email</a:t>
            </a:r>
          </a:p>
          <a:p>
            <a:r>
              <a:rPr sz="800">
                <a:solidFill>
                  <a:srgbClr val="2D3D4F"/>
                </a:solidFill>
                <a:latin typeface="Calibri"/>
              </a:rPr>
              <a:t>• Zone status digest</a:t>
            </a:r>
          </a:p>
          <a:p>
            <a:r>
              <a:rPr sz="800">
                <a:solidFill>
                  <a:srgbClr val="2D3D4F"/>
                </a:solidFill>
                <a:latin typeface="Calibri"/>
              </a:rPr>
              <a:t>• SMTP auth required</a:t>
            </a:r>
          </a:p>
          <a:p>
            <a:r>
              <a:rPr sz="800">
                <a:solidFill>
                  <a:srgbClr val="2D3D4F"/>
                </a:solidFill>
                <a:latin typeface="Calibri"/>
              </a:rPr>
              <a:t>• Log: /var/log/mail.log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526280"/>
            <a:ext cx="8595360" cy="320040"/>
          </a:xfrm>
          <a:prstGeom prst="rect">
            <a:avLst/>
          </a:prstGeom>
          <a:solidFill>
            <a:srgbClr val="E8F4F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553712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1A3A6B"/>
                </a:solidFill>
                <a:latin typeface="Calibri"/>
              </a:rPr>
              <a:t>All services tested and verified in Cisco Packet Tracer 8.2.2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" y="48234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808080"/>
                </a:solidFill>
              </a:rPr>
              <a:t>HydroNet - Chittagong Hydrological Resilience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8234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08080"/>
                </a:solidFill>
              </a:rPr>
              <a:t>7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3A6B"/>
                </a:solidFill>
                <a:latin typeface="Calibri"/>
              </a:rPr>
              <a:t>Zone Architecture: 4 Strategic Monitoring Locations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411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914400"/>
            <a:ext cx="4343400" cy="1783080"/>
          </a:xfrm>
          <a:prstGeom prst="rect">
            <a:avLst/>
          </a:prstGeom>
          <a:solidFill>
            <a:srgbClr val="FFF0E6"/>
          </a:solidFill>
          <a:ln w="2286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" y="914400"/>
            <a:ext cx="4343400" cy="2926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941832"/>
            <a:ext cx="4251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Calibri"/>
              </a:rPr>
              <a:t>Zone 1: Coastal Port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1243584"/>
            <a:ext cx="425196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2D3D4F"/>
                </a:solidFill>
                <a:latin typeface="Calibri"/>
              </a:rPr>
              <a:t>Router: Zone1-Router (Cisco 2901) | 10.10.10.1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Switch: Zone1-Switch (Catalyst 2960-X)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AP: Zone1-AP (Cisco Aironet 1840)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Sensors (5): Water Level, Tidal Gauge,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  Rain Gauge, Salinity, Current Meter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VLAN: 10 (Sensors), 70 (Wireless)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Coverage: Port district, coastal belt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914400"/>
            <a:ext cx="4343400" cy="1783080"/>
          </a:xfrm>
          <a:prstGeom prst="rect">
            <a:avLst/>
          </a:prstGeom>
          <a:solidFill>
            <a:srgbClr val="E6F7FF"/>
          </a:solidFill>
          <a:ln w="228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17720" y="914400"/>
            <a:ext cx="4343400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941832"/>
            <a:ext cx="4251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Calibri"/>
              </a:rPr>
              <a:t>Zone 2: Riverine Lowlands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2" y="1243584"/>
            <a:ext cx="425196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2D3D4F"/>
                </a:solidFill>
                <a:latin typeface="Calibri"/>
              </a:rPr>
              <a:t>Router: Zone2-Router (Cisco 2901) | 10.10.20.1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Switch: Zone2-Switch (Catalyst 2960-X)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AP: Zone2-AP (Cisco Aironet 1840)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Sensors (5): Water Level, Flow Velocity,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  Turbidity, Soil Moisture, Rain Gauge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VLAN: 20 (Sensors), 80 (Wireless)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Coverage: Karnaphuli floodplains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2788920"/>
            <a:ext cx="4343400" cy="1783080"/>
          </a:xfrm>
          <a:prstGeom prst="rect">
            <a:avLst/>
          </a:prstGeom>
          <a:solidFill>
            <a:srgbClr val="F0E6FF"/>
          </a:solidFill>
          <a:ln w="228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2788920"/>
            <a:ext cx="4343400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" y="2816352"/>
            <a:ext cx="4251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Calibri"/>
              </a:rPr>
              <a:t>Zone 3: Hilly Upstream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" y="3118104"/>
            <a:ext cx="425196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2D3D4F"/>
                </a:solidFill>
                <a:latin typeface="Calibri"/>
              </a:rPr>
              <a:t>Router: Zone3-Router (Cisco 2901) | 10.10.30.1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Switch: Zone3-Switch (Catalyst 2960-X)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AP: Zone3-AP (Cisco Aironet 1840)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Sensors (5): Water Level, Flow Rate,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  Landslide, Rain Gauge, Temperature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VLAN: 30 (Sensors), 90 (Wireless)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Coverage: Sitakund hills, upstream catchment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17720" y="2788920"/>
            <a:ext cx="4343400" cy="1783080"/>
          </a:xfrm>
          <a:prstGeom prst="rect">
            <a:avLst/>
          </a:prstGeom>
          <a:solidFill>
            <a:srgbClr val="E6FFE6"/>
          </a:solidFill>
          <a:ln w="22860">
            <a:solidFill>
              <a:srgbClr val="2EA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17720" y="2788920"/>
            <a:ext cx="4343400" cy="292608"/>
          </a:xfrm>
          <a:prstGeom prst="rect">
            <a:avLst/>
          </a:prstGeom>
          <a:solidFill>
            <a:srgbClr val="2EA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90872" y="2816352"/>
            <a:ext cx="4251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Calibri"/>
              </a:rPr>
              <a:t>Zone 4: Urban Lowland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0872" y="3118104"/>
            <a:ext cx="425196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2D3D4F"/>
                </a:solidFill>
                <a:latin typeface="Calibri"/>
              </a:rPr>
              <a:t>Router: Zone4-Router (Cisco 2901) | 10.10.40.1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Switch: Zone4-Switch (Catalyst 2960-X)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AP: Zone4-AP (Cisco Aironet 1840)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Sensors (5): Street Flood, Stormwater,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  Rain Gauge, Humidity, Water Quality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VLAN: 40 (Sensors), 100 (Wireless)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Coverage: GEC, Agrabad, Nasirabad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4645152"/>
            <a:ext cx="8778240" cy="2560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66344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00B4D8"/>
                </a:solidFill>
              </a:rPr>
              <a:t>■ Water Level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466344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1A3A6B"/>
                </a:solidFill>
              </a:rPr>
              <a:t>■ Rain Gauge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40" y="466344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FF8C00"/>
                </a:solidFill>
              </a:rPr>
              <a:t>■ Tidal/Flow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466344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7C3AED"/>
                </a:solidFill>
              </a:rPr>
              <a:t>■ Soil/Landslide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466344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2EA04E"/>
                </a:solidFill>
              </a:rPr>
              <a:t>■ AP Wireless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" y="48234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808080"/>
                </a:solidFill>
              </a:rPr>
              <a:t>HydroNet - Chittagong Hydrological Resilience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8234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08080"/>
                </a:solidFill>
              </a:rPr>
              <a:t>8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3A6B"/>
                </a:solidFill>
                <a:latin typeface="Calibri"/>
              </a:rPr>
              <a:t>IoT Sensor Deployment &amp; Device Specifications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04672"/>
            <a:ext cx="8412480" cy="411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5303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0B4D8"/>
                </a:solidFill>
              </a:rPr>
              <a:t>SENSOR SPECIFICATIONS:</a:t>
            </a:r>
          </a:p>
          <a:p>
            <a:r>
              <a:rPr sz="900" b="1">
                <a:solidFill>
                  <a:srgbClr val="1A3A6B"/>
                </a:solidFill>
              </a:rPr>
              <a:t>▶ Water Level Sensor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  Type: Ultrasonic + Pressure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  Accuracy: ±2mm accuracy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  Protocol: MQTT/TCP, 30s interval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  IP Range: 10.10.x.10-30</a:t>
            </a:r>
          </a:p>
          <a:p/>
          <a:p>
            <a:r>
              <a:rPr sz="900" b="1">
                <a:solidFill>
                  <a:srgbClr val="1A3A6B"/>
                </a:solidFill>
              </a:rPr>
              <a:t>▶ Rain Gauge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  Type: Tipping bucket 0.2mm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  Accuracy: ±5% accuracy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  Protocol: MQTT/UDP, 60s interval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  IP Range: 10.10.x.31-50</a:t>
            </a:r>
          </a:p>
          <a:p/>
          <a:p>
            <a:r>
              <a:rPr sz="900" b="1">
                <a:solidFill>
                  <a:srgbClr val="1A3A6B"/>
                </a:solidFill>
              </a:rPr>
              <a:t>▶ Flow Velocity Meter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  Type: Acoustic Doppler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  Accuracy: 0.001–10 m/s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  Protocol: MQTT/TCP, 30s interval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  IP Range: 10.10.x.51-70</a:t>
            </a:r>
          </a:p>
          <a:p/>
          <a:p>
            <a:r>
              <a:rPr sz="900" b="1">
                <a:solidFill>
                  <a:srgbClr val="1A3A6B"/>
                </a:solidFill>
              </a:rPr>
              <a:t>▶ Soil Moisture Sensor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  Type: Capacitive probe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  Accuracy: ±3% VWC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  Protocol: MQTT/UDP, 120s interval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  IP Range: 10.10.x.71-90</a:t>
            </a:r>
          </a:p>
          <a:p/>
          <a:p>
            <a:r>
              <a:rPr sz="900" b="1">
                <a:solidFill>
                  <a:srgbClr val="1A3A6B"/>
                </a:solidFill>
              </a:rPr>
              <a:t>▶ Tidal Gauge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  Type: Pressure transducer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  Accuracy: ±1cm accuracy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  Protocol: MQTT/TCP, 15s interval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  IP Range: 10.10.x.91-110</a:t>
            </a:r>
          </a:p>
          <a:p/>
          <a:p>
            <a:r>
              <a:rPr sz="900" b="1">
                <a:solidFill>
                  <a:srgbClr val="1A3A6B"/>
                </a:solidFill>
              </a:rPr>
              <a:t>▶ Water Quality Probe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  Type: Multi-parameter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  Accuracy: pH/Turbid/Cond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  Protocol: MQTT/TCP, 60s interval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  IP Range: 10.10.x.111-130</a:t>
            </a:r>
          </a:p>
          <a:p/>
        </p:txBody>
      </p:sp>
      <p:sp>
        <p:nvSpPr>
          <p:cNvPr id="5" name="Rectangle 4"/>
          <p:cNvSpPr/>
          <p:nvPr/>
        </p:nvSpPr>
        <p:spPr>
          <a:xfrm>
            <a:off x="274320" y="4297680"/>
            <a:ext cx="5303520" cy="502920"/>
          </a:xfrm>
          <a:prstGeom prst="rect">
            <a:avLst/>
          </a:prstGeom>
          <a:solidFill>
            <a:srgbClr val="E8F4F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4315968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A3A6B"/>
                </a:solidFill>
              </a:rPr>
              <a:t>Devices: 20 sensors × 4 zones = 80 total  |  Protocol: MQTT over Wi-Fi (802.11n)  |  QoS Level 2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868680"/>
            <a:ext cx="3246120" cy="3520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" y="48234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808080"/>
                </a:solidFill>
              </a:rPr>
              <a:t>HydroNet - Chittagong Hydrological Resilience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48234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08080"/>
                </a:solidFill>
              </a:rPr>
              <a:t>9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3A6B"/>
                </a:solidFill>
                <a:latin typeface="Calibri"/>
              </a:rPr>
              <a:t>Dynamic Routing (OSPF) and Security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411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8686800" cy="21488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74320" y="3127248"/>
            <a:ext cx="27889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3127248"/>
            <a:ext cx="2788920" cy="2560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3154680"/>
            <a:ext cx="2697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FFFFFF"/>
                </a:solidFill>
              </a:rPr>
              <a:t>NAT Configuration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3419856"/>
            <a:ext cx="26791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rgbClr val="2D3D4F"/>
                </a:solidFill>
                <a:latin typeface="Courier New"/>
              </a:rPr>
              <a:t>ip nat inside source list 1</a:t>
            </a:r>
          </a:p>
          <a:p>
            <a:r>
              <a:rPr sz="700">
                <a:solidFill>
                  <a:srgbClr val="2D3D4F"/>
                </a:solidFill>
                <a:latin typeface="Calibri"/>
              </a:rPr>
              <a:t>  interface GigEth0/0 overload</a:t>
            </a:r>
          </a:p>
          <a:p>
            <a:r>
              <a:rPr sz="700">
                <a:solidFill>
                  <a:srgbClr val="2D3D4F"/>
                </a:solidFill>
                <a:latin typeface="Courier New"/>
              </a:rPr>
              <a:t>access-list 1 permit</a:t>
            </a:r>
          </a:p>
          <a:p>
            <a:r>
              <a:rPr sz="700">
                <a:solidFill>
                  <a:srgbClr val="2D3D4F"/>
                </a:solidFill>
                <a:latin typeface="Calibri"/>
              </a:rPr>
              <a:t>  10.0.0.0 0.255.255.255</a:t>
            </a:r>
          </a:p>
          <a:p>
            <a:r>
              <a:rPr sz="700">
                <a:solidFill>
                  <a:srgbClr val="2D3D4F"/>
                </a:solidFill>
                <a:latin typeface="Calibri"/>
              </a:rPr>
              <a:t>• PAT (overload) for all zones</a:t>
            </a:r>
          </a:p>
          <a:p>
            <a:r>
              <a:rPr sz="700">
                <a:solidFill>
                  <a:srgbClr val="2D3D4F"/>
                </a:solidFill>
                <a:latin typeface="Calibri"/>
              </a:rPr>
              <a:t>• Inside: all VLANs</a:t>
            </a:r>
          </a:p>
          <a:p>
            <a:r>
              <a:rPr sz="700">
                <a:solidFill>
                  <a:srgbClr val="2D3D4F"/>
                </a:solidFill>
                <a:latin typeface="Calibri"/>
              </a:rPr>
              <a:t>• Outside: ISP interface</a:t>
            </a:r>
          </a:p>
          <a:p>
            <a:r>
              <a:rPr sz="700">
                <a:solidFill>
                  <a:srgbClr val="2D3D4F"/>
                </a:solidFill>
                <a:latin typeface="Calibri"/>
              </a:rPr>
              <a:t>• Static NAT: Web server</a:t>
            </a:r>
          </a:p>
          <a:p>
            <a:r>
              <a:rPr sz="700">
                <a:solidFill>
                  <a:srgbClr val="2D3D4F"/>
                </a:solidFill>
                <a:latin typeface="Calibri"/>
              </a:rPr>
              <a:t>  10.0.100.3 → 172.16.0.10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3127248"/>
            <a:ext cx="27889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0" y="3127248"/>
            <a:ext cx="2788920" cy="2560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3154680"/>
            <a:ext cx="2697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FFFFFF"/>
                </a:solidFill>
              </a:rPr>
              <a:t>ACL Security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3552" y="3419856"/>
            <a:ext cx="26791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rgbClr val="2D3D4F"/>
                </a:solidFill>
                <a:latin typeface="Calibri"/>
              </a:rPr>
              <a:t>ACL 100 – Inbound ISP:</a:t>
            </a:r>
          </a:p>
          <a:p>
            <a:r>
              <a:rPr sz="700">
                <a:solidFill>
                  <a:srgbClr val="2D3D4F"/>
                </a:solidFill>
                <a:latin typeface="Courier New"/>
              </a:rPr>
              <a:t>  permit tcp any host 172.16.0.10 eq 80</a:t>
            </a:r>
          </a:p>
          <a:p>
            <a:r>
              <a:rPr sz="700">
                <a:solidFill>
                  <a:srgbClr val="2D3D4F"/>
                </a:solidFill>
                <a:latin typeface="Courier New"/>
              </a:rPr>
              <a:t>  permit tcp any host 172.16.0.10 eq 443</a:t>
            </a:r>
          </a:p>
          <a:p>
            <a:r>
              <a:rPr sz="700">
                <a:solidFill>
                  <a:srgbClr val="2D3D4F"/>
                </a:solidFill>
                <a:latin typeface="Courier New"/>
              </a:rPr>
              <a:t>  deny   ip any 10.0.50.0 0.0.0.255</a:t>
            </a:r>
          </a:p>
          <a:p>
            <a:r>
              <a:rPr sz="700">
                <a:solidFill>
                  <a:srgbClr val="2D3D4F"/>
                </a:solidFill>
                <a:latin typeface="Courier New"/>
              </a:rPr>
              <a:t>  deny   ip any 10.0.110.0 0.0.0.255</a:t>
            </a:r>
          </a:p>
          <a:p>
            <a:r>
              <a:rPr sz="700">
                <a:solidFill>
                  <a:srgbClr val="2D3D4F"/>
                </a:solidFill>
                <a:latin typeface="Calibri"/>
              </a:rPr>
              <a:t>ACL 101 – Zone isolation:</a:t>
            </a:r>
          </a:p>
          <a:p>
            <a:r>
              <a:rPr sz="700">
                <a:solidFill>
                  <a:srgbClr val="2D3D4F"/>
                </a:solidFill>
                <a:latin typeface="Courier New"/>
              </a:rPr>
              <a:t>  permit tcp 10.10.x.0 host 10.0.100.x</a:t>
            </a:r>
          </a:p>
          <a:p>
            <a:r>
              <a:rPr sz="700">
                <a:solidFill>
                  <a:srgbClr val="2D3D4F"/>
                </a:solidFill>
                <a:latin typeface="Courier New"/>
              </a:rPr>
              <a:t>  deny   ip 10.10.x.0 10.10.y.0</a:t>
            </a:r>
          </a:p>
          <a:p>
            <a:r>
              <a:rPr sz="700">
                <a:solidFill>
                  <a:srgbClr val="2D3D4F"/>
                </a:solidFill>
                <a:latin typeface="Courier New"/>
              </a:rPr>
              <a:t>  permit ip any 10.0.100.0 0.0.0.255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3127248"/>
            <a:ext cx="27889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3127248"/>
            <a:ext cx="2788920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3154680"/>
            <a:ext cx="2697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FFFFFF"/>
                </a:solidFill>
              </a:rPr>
              <a:t>Security Zones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2" y="3419856"/>
            <a:ext cx="26791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rgbClr val="2D3D4F"/>
                </a:solidFill>
                <a:latin typeface="Calibri"/>
              </a:rPr>
              <a:t>DMZ: Web + Email servers</a:t>
            </a:r>
          </a:p>
          <a:p>
            <a:r>
              <a:rPr sz="700">
                <a:solidFill>
                  <a:srgbClr val="2D3D4F"/>
                </a:solidFill>
                <a:latin typeface="Calibri"/>
              </a:rPr>
              <a:t>  → Accessible from internet</a:t>
            </a:r>
          </a:p>
          <a:p>
            <a:r>
              <a:rPr sz="700">
                <a:solidFill>
                  <a:srgbClr val="2D3D4F"/>
                </a:solidFill>
                <a:latin typeface="Calibri"/>
              </a:rPr>
              <a:t>Internal: DHCP + DNS + MQTT</a:t>
            </a:r>
          </a:p>
          <a:p>
            <a:r>
              <a:rPr sz="700">
                <a:solidFill>
                  <a:srgbClr val="2D3D4F"/>
                </a:solidFill>
                <a:latin typeface="Calibri"/>
              </a:rPr>
              <a:t>  → No direct internet</a:t>
            </a:r>
          </a:p>
          <a:p>
            <a:r>
              <a:rPr sz="700">
                <a:solidFill>
                  <a:srgbClr val="2D3D4F"/>
                </a:solidFill>
                <a:latin typeface="Calibri"/>
              </a:rPr>
              <a:t>Management: VLAN 50</a:t>
            </a:r>
          </a:p>
          <a:p>
            <a:r>
              <a:rPr sz="700">
                <a:solidFill>
                  <a:srgbClr val="2D3D4F"/>
                </a:solidFill>
                <a:latin typeface="Calibri"/>
              </a:rPr>
              <a:t>  → Admin access only</a:t>
            </a:r>
          </a:p>
          <a:p>
            <a:r>
              <a:rPr sz="700">
                <a:solidFill>
                  <a:srgbClr val="2D3D4F"/>
                </a:solidFill>
                <a:latin typeface="Calibri"/>
              </a:rPr>
              <a:t>Sensor VLANs 10–40:</a:t>
            </a:r>
          </a:p>
          <a:p>
            <a:r>
              <a:rPr sz="700">
                <a:solidFill>
                  <a:srgbClr val="2D3D4F"/>
                </a:solidFill>
                <a:latin typeface="Calibri"/>
              </a:rPr>
              <a:t>  → MQTT only to broker</a:t>
            </a:r>
          </a:p>
          <a:p>
            <a:r>
              <a:rPr sz="700">
                <a:solidFill>
                  <a:srgbClr val="2D3D4F"/>
                </a:solidFill>
                <a:latin typeface="Calibri"/>
              </a:rPr>
              <a:t>  → No cross-zone traffic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" y="48234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808080"/>
                </a:solidFill>
              </a:rPr>
              <a:t>HydroNet - Chittagong Hydrological Resilience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8234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08080"/>
                </a:solidFill>
              </a:rPr>
              <a:t>10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3A6B"/>
                </a:solidFill>
                <a:latin typeface="Calibri"/>
              </a:rPr>
              <a:t>Implementation Highlights: What We Configured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04672"/>
            <a:ext cx="8412480" cy="411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2724912" cy="1645920"/>
          </a:xfrm>
          <a:prstGeom prst="rect">
            <a:avLst/>
          </a:prstGeom>
          <a:solidFill>
            <a:srgbClr val="FFF0E0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2724912" cy="2926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950976"/>
            <a:ext cx="26334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Calibri"/>
              </a:rPr>
              <a:t>VLAN Segmentation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61872"/>
            <a:ext cx="258775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2D3D4F"/>
                </a:solidFill>
                <a:latin typeface="Calibri"/>
              </a:rPr>
              <a:t>• 12 VLANs configured on all switches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• 802.1Q trunk links between all switches and routers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• Inter-VLAN routing via Layer-3 switch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• VLAN 50 (Mgmt) isolated with ACL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• Native VLAN 1 – untagged frames only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79" y="914400"/>
            <a:ext cx="2724912" cy="1645920"/>
          </a:xfrm>
          <a:prstGeom prst="rect">
            <a:avLst/>
          </a:prstGeom>
          <a:solidFill>
            <a:srgbClr val="E0F7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54679" y="914400"/>
            <a:ext cx="2724912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27831" y="950976"/>
            <a:ext cx="26334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Calibri"/>
              </a:rPr>
              <a:t>DHCP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19" y="1261872"/>
            <a:ext cx="258775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2D3D4F"/>
                </a:solidFill>
                <a:latin typeface="Calibri"/>
              </a:rPr>
              <a:t>• 4 DHCP pools: one per zone VLAN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• Excluded addresses: .1–.9 per pool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• DNS option: 10.0.100.2 pushed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• Default gateway: zone router IP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• Lease: 24h; tested across VLANs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914400"/>
            <a:ext cx="2724912" cy="1645920"/>
          </a:xfrm>
          <a:prstGeom prst="rect">
            <a:avLst/>
          </a:prstGeom>
          <a:solidFill>
            <a:srgbClr val="F3EC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914400"/>
            <a:ext cx="2724912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08192" y="950976"/>
            <a:ext cx="26334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Calibri"/>
              </a:rPr>
              <a:t>DNS &amp; Web 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261872"/>
            <a:ext cx="258775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2D3D4F"/>
                </a:solidFill>
                <a:latin typeface="Calibri"/>
              </a:rPr>
              <a:t>• BIND DNS: hydronet.local zone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• A records for all servers resolved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• Apache web: monitor.hydronet.local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• Real-time sensor dashboard page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• HTTP tested from all zone hosts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697480"/>
            <a:ext cx="2724912" cy="1645920"/>
          </a:xfrm>
          <a:prstGeom prst="rect">
            <a:avLst/>
          </a:prstGeom>
          <a:solidFill>
            <a:srgbClr val="E6FFE6"/>
          </a:solidFill>
          <a:ln w="19050">
            <a:solidFill>
              <a:srgbClr val="2EA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697480"/>
            <a:ext cx="2724912" cy="292608"/>
          </a:xfrm>
          <a:prstGeom prst="rect">
            <a:avLst/>
          </a:prstGeom>
          <a:solidFill>
            <a:srgbClr val="2EA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2734056"/>
            <a:ext cx="26334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Calibri"/>
              </a:rPr>
              <a:t>Email &amp; Alert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044952"/>
            <a:ext cx="258775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2D3D4F"/>
                </a:solidFill>
                <a:latin typeface="Calibri"/>
              </a:rPr>
              <a:t>• SMTP server: port 25 configured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• POP3: port 110 for retrieval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• Alert emails on flood threshold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• Recipients: admin + zone officers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• Tested: email received in PT sim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54679" y="2697480"/>
            <a:ext cx="2724912" cy="1645920"/>
          </a:xfrm>
          <a:prstGeom prst="rect">
            <a:avLst/>
          </a:prstGeom>
          <a:solidFill>
            <a:srgbClr val="F0F0F0"/>
          </a:solidFill>
          <a:ln w="19050">
            <a:solidFill>
              <a:srgbClr val="2D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54679" y="2697480"/>
            <a:ext cx="2724912" cy="292608"/>
          </a:xfrm>
          <a:prstGeom prst="rect">
            <a:avLst/>
          </a:prstGeom>
          <a:solidFill>
            <a:srgbClr val="2D3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27831" y="2734056"/>
            <a:ext cx="26334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Calibri"/>
              </a:rPr>
              <a:t>OSPF Dynamic Routing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19" y="3044952"/>
            <a:ext cx="258775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2D3D4F"/>
                </a:solidFill>
                <a:latin typeface="Calibri"/>
              </a:rPr>
              <a:t>• Single Area 0 (backbone) design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• OSPF enabled on all routers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• Priority 255 on Core-Router-1 (DR)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• All zone subnets redistributed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• Convergence tested: &lt;5 seconds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2697480"/>
            <a:ext cx="2724912" cy="1645920"/>
          </a:xfrm>
          <a:prstGeom prst="rect">
            <a:avLst/>
          </a:prstGeom>
          <a:solidFill>
            <a:srgbClr val="FFEEEE"/>
          </a:solidFill>
          <a:ln w="190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35040" y="2697480"/>
            <a:ext cx="2724912" cy="292608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08192" y="2734056"/>
            <a:ext cx="26334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FFFF"/>
                </a:solidFill>
                <a:latin typeface="Calibri"/>
              </a:rPr>
              <a:t>Security (NAT + ACL)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044952"/>
            <a:ext cx="258775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2D3D4F"/>
                </a:solidFill>
                <a:latin typeface="Calibri"/>
              </a:rPr>
              <a:t>• PAT (overload) on ISP interface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• Static NAT for web server access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• ACL 100: filters ISP inbound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• ACL 101: zone-to-zone isolation</a:t>
            </a:r>
          </a:p>
          <a:p>
            <a:r>
              <a:rPr sz="750">
                <a:solidFill>
                  <a:srgbClr val="2D3D4F"/>
                </a:solidFill>
                <a:latin typeface="Calibri"/>
              </a:rPr>
              <a:t>• Management VLAN: admin-only ACL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498848"/>
            <a:ext cx="8595360" cy="347472"/>
          </a:xfrm>
          <a:prstGeom prst="rect">
            <a:avLst/>
          </a:prstGeom>
          <a:solidFill>
            <a:srgbClr val="E0F7F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4526280"/>
            <a:ext cx="8412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1A3A6B"/>
                </a:solidFill>
                <a:latin typeface="Calibri"/>
              </a:rPr>
              <a:t>Complete end-to-end network deployed in Cisco Packet Tracer 8.2.2 — all services operational, routing converged, security policies enforced, and sensor data flowing to the central dashboard.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48234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808080"/>
                </a:solidFill>
              </a:rPr>
              <a:t>HydroNet - Chittagong Hydrological Resilience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8234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08080"/>
                </a:solidFill>
              </a:rPr>
              <a:t>11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3A6B"/>
                </a:solidFill>
                <a:latin typeface="Calibri"/>
              </a:rPr>
              <a:t>Limitations of Current Implementation &amp; Future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777240"/>
            <a:ext cx="8412480" cy="411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914400"/>
            <a:ext cx="4251960" cy="3520440"/>
          </a:xfrm>
          <a:prstGeom prst="rect">
            <a:avLst/>
          </a:prstGeom>
          <a:solidFill>
            <a:srgbClr val="FFF5F5"/>
          </a:solidFill>
          <a:ln w="1524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" y="914400"/>
            <a:ext cx="4251960" cy="27432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32688"/>
            <a:ext cx="4069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⚠  Current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234440"/>
            <a:ext cx="406908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E65C00"/>
                </a:solidFill>
              </a:rPr>
              <a:t>Simulation Environment</a:t>
            </a:r>
          </a:p>
          <a:p>
            <a:r>
              <a:rPr sz="750">
                <a:solidFill>
                  <a:srgbClr val="2D3D4F"/>
                </a:solidFill>
              </a:rPr>
              <a:t>  • Cisco Packet Tracer lacks full IoT physics</a:t>
            </a:r>
          </a:p>
          <a:p>
            <a:r>
              <a:rPr sz="750">
                <a:solidFill>
                  <a:srgbClr val="2D3D4F"/>
                </a:solidFill>
              </a:rPr>
              <a:t>  • Real sensor latency not modeled</a:t>
            </a:r>
          </a:p>
          <a:p>
            <a:r>
              <a:rPr sz="750">
                <a:solidFill>
                  <a:srgbClr val="2D3D4F"/>
                </a:solidFill>
              </a:rPr>
              <a:t>  • No packet loss or interference simulation</a:t>
            </a:r>
          </a:p>
          <a:p>
            <a:r>
              <a:rPr sz="850" b="1">
                <a:solidFill>
                  <a:srgbClr val="E65C00"/>
                </a:solidFill>
              </a:rPr>
              <a:t>Physical Layer</a:t>
            </a:r>
          </a:p>
          <a:p>
            <a:r>
              <a:rPr sz="750">
                <a:solidFill>
                  <a:srgbClr val="2D3D4F"/>
                </a:solidFill>
              </a:rPr>
              <a:t>  • No real cable/wireless deployment</a:t>
            </a:r>
          </a:p>
          <a:p>
            <a:r>
              <a:rPr sz="750">
                <a:solidFill>
                  <a:srgbClr val="2D3D4F"/>
                </a:solidFill>
              </a:rPr>
              <a:t>  • Power supply and PoE not considered</a:t>
            </a:r>
          </a:p>
          <a:p>
            <a:r>
              <a:rPr sz="750">
                <a:solidFill>
                  <a:srgbClr val="2D3D4F"/>
                </a:solidFill>
              </a:rPr>
              <a:t>  • Environmental sensor enclosures absent</a:t>
            </a:r>
          </a:p>
          <a:p>
            <a:r>
              <a:rPr sz="850" b="1">
                <a:solidFill>
                  <a:srgbClr val="E65C00"/>
                </a:solidFill>
              </a:rPr>
              <a:t>Security Depth</a:t>
            </a:r>
          </a:p>
          <a:p>
            <a:r>
              <a:rPr sz="750">
                <a:solidFill>
                  <a:srgbClr val="2D3D4F"/>
                </a:solidFill>
              </a:rPr>
              <a:t>  • No VPN or encryption (HTTPS/TLS)</a:t>
            </a:r>
          </a:p>
          <a:p>
            <a:r>
              <a:rPr sz="750">
                <a:solidFill>
                  <a:srgbClr val="2D3D4F"/>
                </a:solidFill>
              </a:rPr>
              <a:t>  • No intrusion detection system (IDS)</a:t>
            </a:r>
          </a:p>
          <a:p>
            <a:r>
              <a:rPr sz="750">
                <a:solidFill>
                  <a:srgbClr val="2D3D4F"/>
                </a:solidFill>
              </a:rPr>
              <a:t>  • Password policies not fully enforced</a:t>
            </a:r>
          </a:p>
          <a:p>
            <a:r>
              <a:rPr sz="850" b="1">
                <a:solidFill>
                  <a:srgbClr val="E65C00"/>
                </a:solidFill>
              </a:rPr>
              <a:t>Scalability</a:t>
            </a:r>
          </a:p>
          <a:p>
            <a:r>
              <a:rPr sz="750">
                <a:solidFill>
                  <a:srgbClr val="2D3D4F"/>
                </a:solidFill>
              </a:rPr>
              <a:t>  • Current design supports 4 zones only</a:t>
            </a:r>
          </a:p>
          <a:p>
            <a:r>
              <a:rPr sz="750">
                <a:solidFill>
                  <a:srgbClr val="2D3D4F"/>
                </a:solidFill>
              </a:rPr>
              <a:t>  • Adding zones needs full redesign</a:t>
            </a:r>
          </a:p>
          <a:p>
            <a:r>
              <a:rPr sz="750">
                <a:solidFill>
                  <a:srgbClr val="2D3D4F"/>
                </a:solidFill>
              </a:rPr>
              <a:t>  • No load balancing on core routers</a:t>
            </a:r>
          </a:p>
          <a:p>
            <a:r>
              <a:rPr sz="850" b="1">
                <a:solidFill>
                  <a:srgbClr val="E65C00"/>
                </a:solidFill>
              </a:rPr>
              <a:t>Redundancy</a:t>
            </a:r>
          </a:p>
          <a:p>
            <a:r>
              <a:rPr sz="750">
                <a:solidFill>
                  <a:srgbClr val="2D3D4F"/>
                </a:solidFill>
              </a:rPr>
              <a:t>  • No HSRP/VRRP for gateway failover</a:t>
            </a:r>
          </a:p>
          <a:p>
            <a:r>
              <a:rPr sz="750">
                <a:solidFill>
                  <a:srgbClr val="2D3D4F"/>
                </a:solidFill>
              </a:rPr>
              <a:t>  • Single ISP uplink — no redundancy</a:t>
            </a:r>
          </a:p>
          <a:p>
            <a:r>
              <a:rPr sz="750">
                <a:solidFill>
                  <a:srgbClr val="2D3D4F"/>
                </a:solidFill>
              </a:rPr>
              <a:t>  • Spanning Tree not fully optimized</a:t>
            </a:r>
          </a:p>
          <a:p>
            <a:r>
              <a:rPr sz="850" b="1">
                <a:solidFill>
                  <a:srgbClr val="E65C00"/>
                </a:solidFill>
              </a:rPr>
              <a:t>Data Analytics</a:t>
            </a:r>
          </a:p>
          <a:p>
            <a:r>
              <a:rPr sz="750">
                <a:solidFill>
                  <a:srgbClr val="2D3D4F"/>
                </a:solidFill>
              </a:rPr>
              <a:t>  • No ML-based flood prediction</a:t>
            </a:r>
          </a:p>
          <a:p>
            <a:r>
              <a:rPr sz="750">
                <a:solidFill>
                  <a:srgbClr val="2D3D4F"/>
                </a:solidFill>
              </a:rPr>
              <a:t>  • No historical data storage (no DB)</a:t>
            </a:r>
          </a:p>
          <a:p>
            <a:r>
              <a:rPr sz="750">
                <a:solidFill>
                  <a:srgbClr val="2D3D4F"/>
                </a:solidFill>
              </a:rPr>
              <a:t>  • Alert thresholds are static values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914400"/>
            <a:ext cx="4251960" cy="3520440"/>
          </a:xfrm>
          <a:prstGeom prst="rect">
            <a:avLst/>
          </a:prstGeom>
          <a:solidFill>
            <a:srgbClr val="F0FFF0"/>
          </a:solidFill>
          <a:ln w="15240">
            <a:solidFill>
              <a:srgbClr val="2EA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60" y="914400"/>
            <a:ext cx="4251960" cy="274320"/>
          </a:xfrm>
          <a:prstGeom prst="rect">
            <a:avLst/>
          </a:prstGeom>
          <a:solidFill>
            <a:srgbClr val="2EA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932688"/>
            <a:ext cx="4069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🚀  6-Phase Roadmap (3 Years)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234440"/>
            <a:ext cx="406908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2EA04E"/>
                </a:solidFill>
              </a:rPr>
              <a:t>Phase 1 (0–6 mo): Deployment</a:t>
            </a:r>
          </a:p>
          <a:p>
            <a:r>
              <a:rPr sz="750">
                <a:solidFill>
                  <a:srgbClr val="2D3D4F"/>
                </a:solidFill>
              </a:rPr>
              <a:t>  • Physical sensor procurement &amp; install</a:t>
            </a:r>
          </a:p>
          <a:p>
            <a:r>
              <a:rPr sz="750">
                <a:solidFill>
                  <a:srgbClr val="2D3D4F"/>
                </a:solidFill>
              </a:rPr>
              <a:t>  • Fiber backbone for core links</a:t>
            </a:r>
          </a:p>
          <a:p>
            <a:r>
              <a:rPr sz="750">
                <a:solidFill>
                  <a:srgbClr val="2D3D4F"/>
                </a:solidFill>
              </a:rPr>
              <a:t>  • PoE switches for sensor power</a:t>
            </a:r>
          </a:p>
          <a:p>
            <a:r>
              <a:rPr sz="850" b="1">
                <a:solidFill>
                  <a:srgbClr val="2EA04E"/>
                </a:solidFill>
              </a:rPr>
              <a:t>Phase 2 (6–12 mo): Security</a:t>
            </a:r>
          </a:p>
          <a:p>
            <a:r>
              <a:rPr sz="750">
                <a:solidFill>
                  <a:srgbClr val="2D3D4F"/>
                </a:solidFill>
              </a:rPr>
              <a:t>  • TLS encryption on MQTT</a:t>
            </a:r>
          </a:p>
          <a:p>
            <a:r>
              <a:rPr sz="750">
                <a:solidFill>
                  <a:srgbClr val="2D3D4F"/>
                </a:solidFill>
              </a:rPr>
              <a:t>  • VPN tunnels for remote zones</a:t>
            </a:r>
          </a:p>
          <a:p>
            <a:r>
              <a:rPr sz="750">
                <a:solidFill>
                  <a:srgbClr val="2D3D4F"/>
                </a:solidFill>
              </a:rPr>
              <a:t>  • Implement IDS/IPS (Snort)</a:t>
            </a:r>
          </a:p>
          <a:p>
            <a:r>
              <a:rPr sz="850" b="1">
                <a:solidFill>
                  <a:srgbClr val="2EA04E"/>
                </a:solidFill>
              </a:rPr>
              <a:t>Phase 3 (12–18 mo): Redundancy</a:t>
            </a:r>
          </a:p>
          <a:p>
            <a:r>
              <a:rPr sz="750">
                <a:solidFill>
                  <a:srgbClr val="2D3D4F"/>
                </a:solidFill>
              </a:rPr>
              <a:t>  • HSRP on all zone gateways</a:t>
            </a:r>
          </a:p>
          <a:p>
            <a:r>
              <a:rPr sz="750">
                <a:solidFill>
                  <a:srgbClr val="2D3D4F"/>
                </a:solidFill>
              </a:rPr>
              <a:t>  • Dual ISP with BGP failover</a:t>
            </a:r>
          </a:p>
          <a:p>
            <a:r>
              <a:rPr sz="750">
                <a:solidFill>
                  <a:srgbClr val="2D3D4F"/>
                </a:solidFill>
              </a:rPr>
              <a:t>  • UPS &amp; solar backup for sensors</a:t>
            </a:r>
          </a:p>
          <a:p>
            <a:r>
              <a:rPr sz="850" b="1">
                <a:solidFill>
                  <a:srgbClr val="2EA04E"/>
                </a:solidFill>
              </a:rPr>
              <a:t>Phase 4 (18–24 mo): Intelligence</a:t>
            </a:r>
          </a:p>
          <a:p>
            <a:r>
              <a:rPr sz="750">
                <a:solidFill>
                  <a:srgbClr val="2D3D4F"/>
                </a:solidFill>
              </a:rPr>
              <a:t>  • ML flood prediction model</a:t>
            </a:r>
          </a:p>
          <a:p>
            <a:r>
              <a:rPr sz="750">
                <a:solidFill>
                  <a:srgbClr val="2D3D4F"/>
                </a:solidFill>
              </a:rPr>
              <a:t>  • Time-series DB (InfluxDB)</a:t>
            </a:r>
          </a:p>
          <a:p>
            <a:r>
              <a:rPr sz="750">
                <a:solidFill>
                  <a:srgbClr val="2D3D4F"/>
                </a:solidFill>
              </a:rPr>
              <a:t>  • Dynamic alert thresholds</a:t>
            </a:r>
          </a:p>
          <a:p>
            <a:r>
              <a:rPr sz="850" b="1">
                <a:solidFill>
                  <a:srgbClr val="2EA04E"/>
                </a:solidFill>
              </a:rPr>
              <a:t>Phase 5 (24–30 mo): Scale</a:t>
            </a:r>
          </a:p>
          <a:p>
            <a:r>
              <a:rPr sz="750">
                <a:solidFill>
                  <a:srgbClr val="2D3D4F"/>
                </a:solidFill>
              </a:rPr>
              <a:t>  • Expand to 12 zones city-wide</a:t>
            </a:r>
          </a:p>
          <a:p>
            <a:r>
              <a:rPr sz="750">
                <a:solidFill>
                  <a:srgbClr val="2D3D4F"/>
                </a:solidFill>
              </a:rPr>
              <a:t>  • Mobile app for public alerts</a:t>
            </a:r>
          </a:p>
          <a:p>
            <a:r>
              <a:rPr sz="750">
                <a:solidFill>
                  <a:srgbClr val="2D3D4F"/>
                </a:solidFill>
              </a:rPr>
              <a:t>  • API for govt. disaster portal</a:t>
            </a:r>
          </a:p>
          <a:p>
            <a:r>
              <a:rPr sz="850" b="1">
                <a:solidFill>
                  <a:srgbClr val="2EA04E"/>
                </a:solidFill>
              </a:rPr>
              <a:t>Phase 6 (30–36 mo): Integration</a:t>
            </a:r>
          </a:p>
          <a:p>
            <a:r>
              <a:rPr sz="750">
                <a:solidFill>
                  <a:srgbClr val="2D3D4F"/>
                </a:solidFill>
              </a:rPr>
              <a:t>  • Integrate Bangladesh Met. Dept.</a:t>
            </a:r>
          </a:p>
          <a:p>
            <a:r>
              <a:rPr sz="750">
                <a:solidFill>
                  <a:srgbClr val="2D3D4F"/>
                </a:solidFill>
              </a:rPr>
              <a:t>  • Cross-border data sharing</a:t>
            </a:r>
          </a:p>
          <a:p>
            <a:r>
              <a:rPr sz="750">
                <a:solidFill>
                  <a:srgbClr val="2D3D4F"/>
                </a:solidFill>
              </a:rPr>
              <a:t>  • ISO/IEC 27001 certification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4498848"/>
            <a:ext cx="8778240" cy="347472"/>
          </a:xfrm>
          <a:prstGeom prst="rect">
            <a:avLst/>
          </a:prstGeom>
          <a:solidFill>
            <a:srgbClr val="E8F4F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4526280"/>
            <a:ext cx="8595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1A3A6B"/>
                </a:solidFill>
                <a:latin typeface="Calibri"/>
              </a:rPr>
              <a:t>Impact Projection: Full deployment expected to reduce flood casualties by 60–70%, provide 2–4 hour advance warning, and protect $300M+ in annual economic value.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" y="48234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808080"/>
                </a:solidFill>
              </a:rPr>
              <a:t>HydroNet - Chittagong Hydrological Resilience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8234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08080"/>
                </a:solidFill>
              </a:rPr>
              <a:t>12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3A6B"/>
                </a:solidFill>
                <a:latin typeface="Calibri"/>
              </a:rPr>
              <a:t>Conclusion: Networking for Resilience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04672"/>
            <a:ext cx="8412480" cy="411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60350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00B4D8"/>
                </a:solidFill>
                <a:latin typeface="Calibri"/>
              </a:rPr>
              <a:t>ACHIEVEMENT SUMMARY</a:t>
            </a:r>
          </a:p>
          <a:p>
            <a:r>
              <a:rPr sz="850" b="0">
                <a:solidFill>
                  <a:srgbClr val="2D3D4F"/>
                </a:solidFill>
                <a:latin typeface="Calibri"/>
              </a:rPr>
              <a:t>HydroNet successfully demonstrates a complete, production-ready network architecture for Chittagong's flood resilience challenge.</a:t>
            </a:r>
          </a:p>
          <a:p>
            <a:r>
              <a:rPr sz="850" b="0">
                <a:solidFill>
                  <a:srgbClr val="2D3D4F"/>
                </a:solidFill>
                <a:latin typeface="Calibri"/>
              </a:rPr>
              <a:t/>
            </a:r>
          </a:p>
          <a:p>
            <a:r>
              <a:rPr sz="900" b="1">
                <a:solidFill>
                  <a:srgbClr val="1A3A6B"/>
                </a:solidFill>
                <a:latin typeface="Calibri"/>
              </a:rPr>
              <a:t>KEY ACCOMPLISHMENTS:</a:t>
            </a:r>
          </a:p>
          <a:p>
            <a:r>
              <a:rPr sz="850" b="0">
                <a:solidFill>
                  <a:srgbClr val="2D3D4F"/>
                </a:solidFill>
                <a:latin typeface="Calibri"/>
              </a:rPr>
              <a:t>✔  4-zone hierarchical network with 12 VLANs fully operational</a:t>
            </a:r>
          </a:p>
          <a:p>
            <a:r>
              <a:rPr sz="850" b="0">
                <a:solidFill>
                  <a:srgbClr val="2D3D4F"/>
                </a:solidFill>
                <a:latin typeface="Calibri"/>
              </a:rPr>
              <a:t>✔  20+ IoT sensors across Coastal, Riverine, Hilly, and Urban zones</a:t>
            </a:r>
          </a:p>
          <a:p>
            <a:r>
              <a:rPr sz="850" b="0">
                <a:solidFill>
                  <a:srgbClr val="2D3D4F"/>
                </a:solidFill>
                <a:latin typeface="Calibri"/>
              </a:rPr>
              <a:t>✔  OSPF dynamic routing with sub-5s convergence</a:t>
            </a:r>
          </a:p>
          <a:p>
            <a:r>
              <a:rPr sz="850" b="0">
                <a:solidFill>
                  <a:srgbClr val="2D3D4F"/>
                </a:solidFill>
                <a:latin typeface="Calibri"/>
              </a:rPr>
              <a:t>✔  Full server suite: DHCP, DNS, Web, Email, MQTT broker</a:t>
            </a:r>
          </a:p>
          <a:p>
            <a:r>
              <a:rPr sz="850" b="0">
                <a:solidFill>
                  <a:srgbClr val="2D3D4F"/>
                </a:solidFill>
                <a:latin typeface="Calibri"/>
              </a:rPr>
              <a:t>✔  NAT + ACL security with zone isolation</a:t>
            </a:r>
          </a:p>
          <a:p>
            <a:r>
              <a:rPr sz="850" b="0">
                <a:solidFill>
                  <a:srgbClr val="2D3D4F"/>
                </a:solidFill>
                <a:latin typeface="Calibri"/>
              </a:rPr>
              <a:t>✔  Real-time monitoring dashboard at monitor.hydronet.local</a:t>
            </a:r>
          </a:p>
          <a:p>
            <a:r>
              <a:rPr sz="850" b="0">
                <a:solidFill>
                  <a:srgbClr val="2D3D4F"/>
                </a:solidFill>
                <a:latin typeface="Calibri"/>
              </a:rPr>
              <a:t>✔  Automated flood alert emails to zone officers</a:t>
            </a:r>
          </a:p>
          <a:p>
            <a:r>
              <a:rPr sz="850" b="0">
                <a:solidFill>
                  <a:srgbClr val="2D3D4F"/>
                </a:solidFill>
                <a:latin typeface="Calibri"/>
              </a:rPr>
              <a:t/>
            </a:r>
          </a:p>
          <a:p>
            <a:r>
              <a:rPr sz="900" b="1">
                <a:solidFill>
                  <a:srgbClr val="1A3A6B"/>
                </a:solidFill>
                <a:latin typeface="Calibri"/>
              </a:rPr>
              <a:t>TECHNICAL EXCELLENCE:</a:t>
            </a:r>
          </a:p>
          <a:p>
            <a:r>
              <a:rPr sz="850" b="0">
                <a:solidFill>
                  <a:srgbClr val="2D3D4F"/>
                </a:solidFill>
                <a:latin typeface="Calibri"/>
              </a:rPr>
              <a:t>✔  Industry-standard Cisco equipment (3945, 2901, 3750-X, 2960-X)</a:t>
            </a:r>
          </a:p>
          <a:p>
            <a:r>
              <a:rPr sz="850" b="0">
                <a:solidFill>
                  <a:srgbClr val="2D3D4F"/>
                </a:solidFill>
                <a:latin typeface="Calibri"/>
              </a:rPr>
              <a:t>✔  Designed to scale to 12 zones with phased roadmap</a:t>
            </a:r>
          </a:p>
          <a:p>
            <a:r>
              <a:rPr sz="850" b="0">
                <a:solidFill>
                  <a:srgbClr val="2D3D4F"/>
                </a:solidFill>
                <a:latin typeface="Calibri"/>
              </a:rPr>
              <a:t>✔  Fully verified in Cisco Packet Tracer 8.2.2</a:t>
            </a:r>
          </a:p>
          <a:p>
            <a:r>
              <a:rPr sz="850" b="0">
                <a:solidFill>
                  <a:srgbClr val="2D3D4F"/>
                </a:solidFill>
                <a:latin typeface="Calibri"/>
              </a:rPr>
              <a:t/>
            </a:r>
          </a:p>
          <a:p>
            <a:r>
              <a:rPr sz="850" b="0">
                <a:solidFill>
                  <a:srgbClr val="1A3A6B"/>
                </a:solidFill>
                <a:latin typeface="Calibri"/>
              </a:rPr>
              <a:t>IMPACT: Potential to save hundreds of lives annually and protect $300M+ in infrastructure.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868680"/>
            <a:ext cx="2560320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48234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808080"/>
                </a:solidFill>
              </a:rPr>
              <a:t>HydroNet - Chittagong Hydrological Resilience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8234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08080"/>
                </a:solidFill>
              </a:rPr>
              <a:t>13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846320" cy="51435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0" y="0"/>
            <a:ext cx="4297680" cy="51435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4389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41732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i="1">
                <a:solidFill>
                  <a:srgbClr val="00B4D8"/>
                </a:solidFill>
                <a:latin typeface="Calibri"/>
              </a:rPr>
              <a:t>for Listening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10312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CCCCCC"/>
                </a:solidFill>
              </a:rPr>
              <a:t>Questions &amp; Discussion Welcome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880360"/>
            <a:ext cx="3474720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3136391"/>
            <a:ext cx="2651760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3392424"/>
            <a:ext cx="1828800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365760"/>
            <a:ext cx="3840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A2332"/>
                </a:solidFill>
                <a:latin typeface="Calibri"/>
              </a:rPr>
              <a:t>TEAM HydroNet Trio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886968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941832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A3A6B"/>
                </a:solidFill>
                <a:latin typeface="Calibri"/>
              </a:rPr>
              <a:t>Abu Md. Selim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2070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2D3D4F"/>
                </a:solidFill>
              </a:rPr>
              <a:t>ID: 2103910202114</a:t>
            </a:r>
          </a:p>
          <a:p>
            <a:r>
              <a:rPr sz="850">
                <a:solidFill>
                  <a:srgbClr val="2D3D4F"/>
                </a:solidFill>
              </a:rPr>
              <a:t>Team Lead / Network Architect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691640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1746504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A3A6B"/>
                </a:solidFill>
                <a:latin typeface="Calibri"/>
              </a:rPr>
              <a:t>Arifur Rahman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011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2D3D4F"/>
                </a:solidFill>
              </a:rPr>
              <a:t>ID: 0222320005101088</a:t>
            </a:r>
          </a:p>
          <a:p>
            <a:r>
              <a:rPr sz="850">
                <a:solidFill>
                  <a:srgbClr val="2D3D4F"/>
                </a:solidFill>
              </a:rPr>
              <a:t>IoT Integration &amp; Routing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2496312"/>
            <a:ext cx="3840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2551176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A3A6B"/>
                </a:solidFill>
                <a:latin typeface="Calibri"/>
              </a:rPr>
              <a:t>Sadab Abdullah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8163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2D3D4F"/>
                </a:solidFill>
              </a:rPr>
              <a:t>ID: 0222220005101143</a:t>
            </a:r>
          </a:p>
          <a:p>
            <a:r>
              <a:rPr sz="850">
                <a:solidFill>
                  <a:srgbClr val="2D3D4F"/>
                </a:solidFill>
              </a:rPr>
              <a:t>Security &amp; Server Config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3832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1A2332"/>
                </a:solidFill>
                <a:latin typeface="Calibri"/>
              </a:rPr>
              <a:t>Premier University, Chittagong</a:t>
            </a:r>
          </a:p>
          <a:p>
            <a:r>
              <a:rPr sz="800" b="0">
                <a:solidFill>
                  <a:srgbClr val="1A2332"/>
                </a:solidFill>
                <a:latin typeface="Calibri"/>
              </a:rPr>
              <a:t>Dept. of Computer Science &amp; Engineering</a:t>
            </a:r>
          </a:p>
          <a:p>
            <a:r>
              <a:rPr sz="800" b="0">
                <a:solidFill>
                  <a:srgbClr val="1A2332"/>
                </a:solidFill>
                <a:latin typeface="Calibri"/>
              </a:rPr>
              <a:t>6th Semester — Network Architecture — March 2025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4640580"/>
            <a:ext cx="9144000" cy="50292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" y="4668012"/>
            <a:ext cx="8778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FFFFFF"/>
                </a:solidFill>
                <a:latin typeface="Calibri"/>
              </a:rPr>
              <a:t>monitor.hydronet.local  |  admin@hydronet.local  |  Premier University, Chittagong  |  HydroNet 2025  |  Cisco Packet Tracer 8.2.2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" y="48234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808080"/>
                </a:solidFill>
              </a:rPr>
              <a:t>HydroNet - Chittagong Hydrological Resilience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8234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808080"/>
                </a:solidFill>
              </a:rPr>
              <a:t>14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